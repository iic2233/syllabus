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5" r:id="rId27"/>
    <p:sldId id="274" r:id="rId28"/>
    <p:sldId id="275" r:id="rId29"/>
  </p:sldIdLst>
  <p:sldSz cx="20104100" cy="11309350"/>
  <p:notesSz cx="20104100" cy="11309350"/>
  <p:embeddedFontLst>
    <p:embeddedFont>
      <p:font typeface="Helvetica Neue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Oazqt6fzPHY79xnMbI/CEyBpr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12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01:15:52.6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7446 0 24575,'-3'2'0,"0"0"0,0 0 0,0 1 0,0-1 0,0 0 0,0 1 0,0 0 0,1 0 0,0 0 0,-1 0 0,1 0 0,0 0 0,-2 6 0,-12 13 0,-293 317-893,219-238 323,49-52 588,-90 81 0,-19 9-499,-18 14-1016,-248 213-899,101-86-579,101-90 1323,-86 71 1769,-348 315-2099,193-159 789,195-192 995,-570 500-996,413-362 1182,-251 231 493,338-291-365,61-58-138,-152 173 2912,317-320-2630,-402 374 1667,490-458-1886,-45 41 1736,-1-3 1,-125 80 0,164-121-1921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01:15:53.0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24575,'1'37'9,"1"0"-1,3 0 0,1-1 0,13 45 1,56 136-1165,-68-196 873,116 273-3193,322 555 0,120 3 560,-372-576 758,536 722-198,106 68 4712,-22-91-4973,-593-728 2638,363 392 434,-361-407-348,377 373 183,-139-161 599,131 118 279,170 106 1589,-699-613-1009,113 109-1062,-162-150-176,-6-7-107,0 0 1,-1 1-1,0 0 1,0 0 0,6 12-1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01:16:03.136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2 6156 24575,'0'51'0,"-2"0"0,3 2 0,2-2 0,2 1 0,22 95 0,28 42 201,128 378-1530,-105-353 1398,38 90-2029,46 111 123,-64-152 2261,-94-252-414,155 427 50,-153-415 50,43 124 2699,-48-144-2753,-1-1 0,1 0 1,0 1-1,0-1 0,1 0 1,-1 0-1,0 0 0,1 0 1,-1 0-1,1 0 0,0 0 1,-1 0-1,1-1 0,0 1 1,0 0-1,0-1 0,0 0 1,1 0-1,-1 1 0,0-1 1,0 0-1,1-1 0,2 2 1,-2-2-43,1 0 0,-1-1 1,1 1-1,-1 0 1,1-1-1,-1 0 0,1 0 1,-1 0-1,0 0 0,1-1 1,-1 1-1,0-1 1,0 0-1,4-3 0,7-6-34,-1 0-1,0-1 0,-1-1 1,0 0-1,13-19 0,145-176-1146,-14 18 145,41-55 1045,-100 127-210,327-408-2179,-222 272 959,284-378-4081,-281 356 5016,35-51-137,116-165 369,34-48-30,-7-11-276,-243 350 546,226-333 0,100-141 273,-17 27-15,3 1 249,-163 240-57,11-47 293,49-96 1353,-134 187 1425,-169 268-1380,-31 62-1387,1 0 1,21-31-1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5fb33de46_0_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g375fb33de4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3bcc4fc30_0_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g373bcc4fc3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3bcc4fc30_0_1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73bcc4fc3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3bcc4fc30_0_2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73bcc4fc3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3bcc4fc30_0_3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g373bcc4fc3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3bcc4fc30_0_3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3bcc4fc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3bcc4fc30_0_4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g373bcc4fc3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3bcc4fc30_0_5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373bcc4fc3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5e3a41fc7_0_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g395e3a41fc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CC16F0EB-C773-5ED7-56CC-9E4C1387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D0765E05-01E5-54BA-28DF-7ACB34FA7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BD932761-DDEA-CA1B-E8B1-8FA3AD6F9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9994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04F8421-A9B3-3F37-1292-6F794EE2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C91AC0F2-FA46-CCBD-29CA-90964C714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F6EA13AB-E68D-DF93-5A0E-8CC8D7FE4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46729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594E07B-5AA0-898D-0FFB-16438387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7D1B53A6-206C-6276-6F00-B2AE7F22F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1BF12A4E-A430-C270-5089-AF0D9EBDC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4298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CB310854-0A20-85B8-8155-B1D9D89B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81B42C74-6740-9A54-AC2A-48372BD91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CDB176BF-9C3C-D403-EFEB-317B97C22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0387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66868B8-57A8-D2A4-1C04-9B0BBC04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3D655333-5C21-4C19-5C17-83B0413AA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0732D6D2-30AD-AF9E-C9EE-AD41CE3E0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59483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8A6E9F10-5280-3E10-EF3C-3D4B6F29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E6535F12-E0D7-4037-A76C-0A322E8C3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1989F078-9C5D-5A54-B9F7-2208C53CA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46276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D36DC58D-42E9-559C-5C9E-D0AE71C1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4EF8C871-031D-1F6A-D7E1-2BDE95B84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42B79D45-2F04-694E-D66E-32EBD297A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024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C72B4100-DCE7-2268-EAAE-FEF9A58F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e3a41fc7_0_11:notes">
            <a:extLst>
              <a:ext uri="{FF2B5EF4-FFF2-40B4-BE49-F238E27FC236}">
                <a16:creationId xmlns:a16="http://schemas.microsoft.com/office/drawing/2014/main" id="{BBBA1A8F-325D-3C8F-1D40-95DE72134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95e3a41fc7_0_11:notes">
            <a:extLst>
              <a:ext uri="{FF2B5EF4-FFF2-40B4-BE49-F238E27FC236}">
                <a16:creationId xmlns:a16="http://schemas.microsoft.com/office/drawing/2014/main" id="{7F5E33ED-F5CE-61B3-5412-11FF6FA77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735853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3bcc4fc30_0_6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373bcc4fc3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title"/>
          </p:nvPr>
        </p:nvSpPr>
        <p:spPr>
          <a:xfrm>
            <a:off x="1027565" y="2022453"/>
            <a:ext cx="1784286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95119" y="1327376"/>
            <a:ext cx="12525168" cy="90185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>
            <a:spLocks noGrp="1"/>
          </p:cNvSpPr>
          <p:nvPr>
            <p:ph type="ctrTitle"/>
          </p:nvPr>
        </p:nvSpPr>
        <p:spPr>
          <a:xfrm>
            <a:off x="2148560" y="3870562"/>
            <a:ext cx="15806978" cy="17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1027565" y="2022453"/>
            <a:ext cx="1784286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1027565" y="2022453"/>
            <a:ext cx="1784286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1027565" y="2022453"/>
            <a:ext cx="1784286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ejemplo@uc.c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ejemplo@uc.c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IC2233/Syllabu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IC2233/contenido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org&amp;utm_campaign=index&amp;utm_content=thumbnai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25.png"/><Relationship Id="rId5" Type="http://schemas.openxmlformats.org/officeDocument/2006/relationships/image" Target="../media/image22.jpg"/><Relationship Id="rId10" Type="http://schemas.openxmlformats.org/officeDocument/2006/relationships/customXml" Target="../ink/ink3.xml"/><Relationship Id="rId4" Type="http://schemas.openxmlformats.org/officeDocument/2006/relationships/image" Target="../media/image14.org&amp;utm_campaign=index&amp;utm_content=thumbnail"/><Relationship Id="rId9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>
            <a:spLocks noGrp="1"/>
          </p:cNvSpPr>
          <p:nvPr>
            <p:ph type="title"/>
          </p:nvPr>
        </p:nvSpPr>
        <p:spPr>
          <a:xfrm>
            <a:off x="7002778" y="5853927"/>
            <a:ext cx="6098541" cy="63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Programación Avanzada</a:t>
            </a:r>
            <a:endParaRPr sz="4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4782017" y="4407377"/>
            <a:ext cx="1054006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Guía de instalación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/>
        </p:nvSpPr>
        <p:spPr>
          <a:xfrm>
            <a:off x="746867" y="2215973"/>
            <a:ext cx="15647700" cy="3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Mac y windows recomendamos descargar el instalador: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48789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sng" strike="noStrike" cap="none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https://www.python.org/downloads/release/python-3129/</a:t>
            </a:r>
            <a:endParaRPr sz="4000" b="0" i="0" u="none" strike="noStrike" cap="none">
              <a:solidFill>
                <a:srgbClr val="00B0F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B0F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B0F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64490" marR="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Linux Distribuciones Debian-like: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746875" y="6294573"/>
            <a:ext cx="18729300" cy="1373700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0" marR="0" lvl="0" indent="0" algn="ctr" rtl="0">
              <a:lnSpc>
                <a:spcPct val="119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sudo apt update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9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sudo apt install python3.12 python3-pip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746876" y="8222761"/>
            <a:ext cx="7628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Linux Distribuciones Arch-like: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746882" y="9121395"/>
            <a:ext cx="18729300" cy="639300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sudo pacman -S python python3-pip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746867" y="488596"/>
            <a:ext cx="652294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3.12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5fb33de46_0_1"/>
          <p:cNvSpPr txBox="1"/>
          <p:nvPr/>
        </p:nvSpPr>
        <p:spPr>
          <a:xfrm>
            <a:off x="746886" y="488600"/>
            <a:ext cx="1523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Windows: importante 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g375fb33de46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5850" y="2467425"/>
            <a:ext cx="12352400" cy="785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75fb33de46_0_1"/>
          <p:cNvSpPr/>
          <p:nvPr/>
        </p:nvSpPr>
        <p:spPr>
          <a:xfrm>
            <a:off x="7229650" y="9146150"/>
            <a:ext cx="687900" cy="626100"/>
          </a:xfrm>
          <a:prstGeom prst="ellipse">
            <a:avLst/>
          </a:prstGeom>
          <a:noFill/>
          <a:ln w="28575" cap="flat" cmpd="sng">
            <a:solidFill>
              <a:srgbClr val="F32B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g375fb33de46_0_1"/>
          <p:cNvCxnSpPr>
            <a:endCxn id="61" idx="2"/>
          </p:cNvCxnSpPr>
          <p:nvPr/>
        </p:nvCxnSpPr>
        <p:spPr>
          <a:xfrm>
            <a:off x="2507650" y="9447200"/>
            <a:ext cx="4722000" cy="12000"/>
          </a:xfrm>
          <a:prstGeom prst="straightConnector1">
            <a:avLst/>
          </a:prstGeom>
          <a:noFill/>
          <a:ln w="28575" cap="flat" cmpd="sng">
            <a:solidFill>
              <a:srgbClr val="F32BE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" name="Google Shape;63;g375fb33de46_0_1"/>
          <p:cNvCxnSpPr/>
          <p:nvPr/>
        </p:nvCxnSpPr>
        <p:spPr>
          <a:xfrm>
            <a:off x="7488550" y="9455800"/>
            <a:ext cx="57600" cy="5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g375fb33de46_0_1"/>
          <p:cNvCxnSpPr/>
          <p:nvPr/>
        </p:nvCxnSpPr>
        <p:spPr>
          <a:xfrm flipH="1">
            <a:off x="7546250" y="9407375"/>
            <a:ext cx="87600" cy="9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746867" y="2620623"/>
            <a:ext cx="15647700" cy="6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87350" marR="3937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de control de versiones, utilizado para gestionar y rastrear cambios en el código durante el desarrollo de software.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resumen, git es una herramienta que permite guardar y gestionar diferentes versiones de un proyecto.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4495" marR="5389245" lvl="0" indent="-384175" algn="l" rtl="0">
              <a:lnSpc>
                <a:spcPct val="1123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nos permite trabajar en un proyecto y mantener copias de seguridad a medida que hacemos cambios, lo cual es ideal para trabajos colaborativos.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746867" y="488596"/>
            <a:ext cx="10043134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es              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6250" y="345466"/>
            <a:ext cx="4085525" cy="1715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68200" y="6461812"/>
            <a:ext cx="6432466" cy="3325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/>
        </p:nvSpPr>
        <p:spPr>
          <a:xfrm>
            <a:off x="746867" y="2873310"/>
            <a:ext cx="156477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93725" marR="0" lvl="0" indent="-581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Puedes ejecutar el siguiente comando: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746867" y="6583744"/>
            <a:ext cx="17163924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93725" marR="0" lvl="0" indent="-581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está instalado, debería aparecer algo del estilo: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746867" y="488596"/>
            <a:ext cx="14422538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¿Cómo saber si tengo git?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746867" y="4130675"/>
            <a:ext cx="18729325" cy="760465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--version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740517" y="7902487"/>
            <a:ext cx="18729325" cy="760465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version 2.9.2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746875" y="2924725"/>
            <a:ext cx="189450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Puedes descargar el instalador desde </a:t>
            </a:r>
            <a:r>
              <a:rPr lang="en-US" sz="40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aquí</a:t>
            </a: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seguir los pasos que te indican.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46867" y="488596"/>
            <a:ext cx="16304463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Cómo instalar git en Windows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5" descr="a cat is sitting at a desk in front of a computer monitor (Provided by Tenor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1888" y="4572000"/>
            <a:ext cx="7840325" cy="58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740516" y="2311023"/>
            <a:ext cx="18735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84200" marR="5080" lvl="0" indent="-5715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Utilizaremos la terminal. Primero necesitamos instalar las herramientas de desarrollo de xcode: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720" y="5146284"/>
            <a:ext cx="17163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842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Luego instalamos Homebrew: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46867" y="488596"/>
            <a:ext cx="1517915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Cómo instalar git en MacOS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58102" y="3951708"/>
            <a:ext cx="18729325" cy="760465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xcode-select --install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81548" y="6054965"/>
            <a:ext cx="18729300" cy="1433700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6491605" marR="417830" lvl="0" indent="-6061075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/bin/bash -c "$(curl -fsSL https://raw.githubusercontent.com/Homebrew/ install/HEAD/install.sh)"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232" y="8283073"/>
            <a:ext cx="17163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842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Finalmente instalamos git: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48235" y="9247098"/>
            <a:ext cx="18744565" cy="760465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brew install git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/>
        </p:nvSpPr>
        <p:spPr>
          <a:xfrm>
            <a:off x="746867" y="2873310"/>
            <a:ext cx="15647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92125" marR="0" lvl="0" indent="-479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Distribuciones Debian-Like: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746867" y="6583744"/>
            <a:ext cx="17163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92125" marR="0" lvl="0" indent="-479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Distribuciones Arch-Like: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746867" y="488596"/>
            <a:ext cx="14361624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Cómo instalar git en Linux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746867" y="4130675"/>
            <a:ext cx="18729325" cy="760465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sudo apt install git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740517" y="7902487"/>
            <a:ext cx="18729325" cy="760465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sudo pacman -S git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/>
        </p:nvSpPr>
        <p:spPr>
          <a:xfrm>
            <a:off x="746867" y="2873310"/>
            <a:ext cx="15647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842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habilitar los colores en el terminal: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746867" y="6583744"/>
            <a:ext cx="17163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92125" marR="0" lvl="0" indent="-479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Configuración de credenciales: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746867" y="488596"/>
            <a:ext cx="7645042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Configurar git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746867" y="4130675"/>
            <a:ext cx="18729300" cy="745200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config --global color.ui auto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746888" y="7624016"/>
            <a:ext cx="18729300" cy="2128200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3188335" marR="3180715" lvl="0" indent="0" algn="ctr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config --global user.name "NOMBRE APELLIDO" git config --global user.email </a:t>
            </a:r>
            <a:r>
              <a:rPr lang="en-US" sz="40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ejemplo@uc.cl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config --global credential.helper store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3bcc4fc30_0_5"/>
          <p:cNvSpPr txBox="1"/>
          <p:nvPr/>
        </p:nvSpPr>
        <p:spPr>
          <a:xfrm>
            <a:off x="746876" y="3260625"/>
            <a:ext cx="18208800" cy="24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Donde dice “NOMBRE APELLIDO” y </a:t>
            </a:r>
            <a:r>
              <a:rPr lang="en-US" sz="40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ejemplo@uc.cl</a:t>
            </a: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reemplázenlo por SU nombre y apellido, y su correo asociado a su cuenta de github.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favor.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373bcc4fc30_0_5"/>
          <p:cNvSpPr txBox="1"/>
          <p:nvPr/>
        </p:nvSpPr>
        <p:spPr>
          <a:xfrm>
            <a:off x="746867" y="488596"/>
            <a:ext cx="16304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favor…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73bcc4fc30_0_5" descr="a kitten is covering its mouth with its paws next to a remote control . (Provided by Tenor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4588" y="5975100"/>
            <a:ext cx="4494925" cy="43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3bcc4fc30_0_12"/>
          <p:cNvSpPr txBox="1"/>
          <p:nvPr/>
        </p:nvSpPr>
        <p:spPr>
          <a:xfrm>
            <a:off x="746867" y="2620623"/>
            <a:ext cx="15647700" cy="6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352425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una plataforma en la nube que utiliza git como sistema de control subyacente.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 como Google Drive, los archivos se almacenan en la nube y pueden ser accedidos desde cualquier lugar.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diferencia de Google Drive, GitHub está optimizado para la gestión de proyectos de software.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el estándar de la industria.</a:t>
            </a:r>
            <a:endParaRPr sz="4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73bcc4fc30_0_12"/>
          <p:cNvSpPr txBox="1"/>
          <p:nvPr/>
        </p:nvSpPr>
        <p:spPr>
          <a:xfrm>
            <a:off x="746877" y="488600"/>
            <a:ext cx="12467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es                   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73bcc4fc30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3975" y="-182600"/>
            <a:ext cx="7578349" cy="27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73bcc4fc30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29975" y="7120775"/>
            <a:ext cx="7219251" cy="39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bcc4fc30_0_21"/>
          <p:cNvSpPr txBox="1"/>
          <p:nvPr/>
        </p:nvSpPr>
        <p:spPr>
          <a:xfrm>
            <a:off x="746875" y="2228825"/>
            <a:ext cx="18620700" cy="82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635635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carpeta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nube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guarda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relacionado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proyecto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En 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trabajaremos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repositorios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distintos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sng" strike="noStrike" cap="none" dirty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Syllabus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aquí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encontrarás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las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clases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ayudantías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propuestos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sng" strike="noStrike" cap="none" dirty="0" err="1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Contenidos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aquí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subirán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Recuerda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ramo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tiene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metodología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Flipped Classroom,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deberás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estudiarlos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cuenta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Repositorio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personal: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aquí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subirás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tareas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actividades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Más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información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esto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será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dada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AC1.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g373bcc4fc30_0_21"/>
          <p:cNvSpPr txBox="1"/>
          <p:nvPr/>
        </p:nvSpPr>
        <p:spPr>
          <a:xfrm>
            <a:off x="746867" y="488596"/>
            <a:ext cx="100431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Repositorios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73bcc4fc30_0_31"/>
          <p:cNvPicPr preferRelativeResize="0"/>
          <p:nvPr/>
        </p:nvPicPr>
        <p:blipFill rotWithShape="1">
          <a:blip r:embed="rId3">
            <a:alphaModFix/>
          </a:blip>
          <a:srcRect b="30815"/>
          <a:stretch/>
        </p:blipFill>
        <p:spPr>
          <a:xfrm>
            <a:off x="3579026" y="4486225"/>
            <a:ext cx="12227948" cy="57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73bcc4fc30_0_31"/>
          <p:cNvSpPr txBox="1"/>
          <p:nvPr/>
        </p:nvSpPr>
        <p:spPr>
          <a:xfrm>
            <a:off x="746875" y="2228825"/>
            <a:ext cx="18620700" cy="1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podrás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realizar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preguntas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instalación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actividades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etcétera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73bcc4fc30_0_31"/>
          <p:cNvSpPr txBox="1"/>
          <p:nvPr/>
        </p:nvSpPr>
        <p:spPr>
          <a:xfrm>
            <a:off x="746867" y="488596"/>
            <a:ext cx="100431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73bcc4fc30_0_31"/>
          <p:cNvSpPr/>
          <p:nvPr/>
        </p:nvSpPr>
        <p:spPr>
          <a:xfrm>
            <a:off x="6206125" y="4885850"/>
            <a:ext cx="1692900" cy="833400"/>
          </a:xfrm>
          <a:prstGeom prst="ellipse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3bcc4fc30_0_39"/>
          <p:cNvSpPr txBox="1"/>
          <p:nvPr/>
        </p:nvSpPr>
        <p:spPr>
          <a:xfrm>
            <a:off x="746875" y="2228825"/>
            <a:ext cx="18620700" cy="553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Busca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primero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duda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Google (tip: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puedes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busca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inglés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mejores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Revisa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alguien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preguntó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misma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duda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Procura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issue sea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descriptivo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usar 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medio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reclamos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Política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descanso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ayudantes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no se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responden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discussions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las 20:00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sábado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hasta las 8:00 del lunes.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73bcc4fc30_0_39"/>
          <p:cNvSpPr txBox="1"/>
          <p:nvPr/>
        </p:nvSpPr>
        <p:spPr>
          <a:xfrm>
            <a:off x="746875" y="488600"/>
            <a:ext cx="151689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Reglamento de </a:t>
            </a:r>
            <a:r>
              <a:rPr lang="en-US" sz="8800" b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73bcc4fc30_0_39"/>
          <p:cNvPicPr preferRelativeResize="0"/>
          <p:nvPr/>
        </p:nvPicPr>
        <p:blipFill rotWithShape="1">
          <a:blip r:embed="rId3">
            <a:alphaModFix/>
          </a:blip>
          <a:srcRect t="12049"/>
          <a:stretch/>
        </p:blipFill>
        <p:spPr>
          <a:xfrm>
            <a:off x="15157175" y="7599275"/>
            <a:ext cx="5682233" cy="39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3bcc4fc30_0_45"/>
          <p:cNvSpPr txBox="1"/>
          <p:nvPr/>
        </p:nvSpPr>
        <p:spPr>
          <a:xfrm>
            <a:off x="806339" y="2703240"/>
            <a:ext cx="18620700" cy="553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cuadernos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interactivos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mezclar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código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manera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organizada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Los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las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ayudantías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estarán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jupyter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usamos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pip:</a:t>
            </a: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n-U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n-US"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utilizarlo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escribimos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terminal: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g373bcc4fc30_0_45"/>
          <p:cNvSpPr txBox="1"/>
          <p:nvPr/>
        </p:nvSpPr>
        <p:spPr>
          <a:xfrm>
            <a:off x="746877" y="488600"/>
            <a:ext cx="130023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Jupyter Notebook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73bcc4fc30_0_45"/>
          <p:cNvSpPr txBox="1"/>
          <p:nvPr/>
        </p:nvSpPr>
        <p:spPr>
          <a:xfrm>
            <a:off x="752039" y="5840745"/>
            <a:ext cx="18729300" cy="639257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lvl="0" algn="ctr">
              <a:buSzPts val="4000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python3 -m</a:t>
            </a:r>
            <a:r>
              <a:rPr lang="es-CL" sz="4000" dirty="0"/>
              <a:t> </a:t>
            </a:r>
            <a:r>
              <a:rPr lang="es-CL" sz="4000" dirty="0" err="1"/>
              <a:t>pip</a:t>
            </a:r>
            <a:r>
              <a:rPr lang="es-CL" sz="4000" dirty="0"/>
              <a:t> </a:t>
            </a:r>
            <a:r>
              <a:rPr lang="es-CL" sz="4000" dirty="0" err="1"/>
              <a:t>install</a:t>
            </a:r>
            <a:r>
              <a:rPr lang="es-CL" sz="4000" dirty="0"/>
              <a:t> </a:t>
            </a:r>
            <a:r>
              <a:rPr lang="es-CL" sz="4000" dirty="0" err="1"/>
              <a:t>jupyterlab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373bcc4fc30_0_45"/>
          <p:cNvSpPr txBox="1"/>
          <p:nvPr/>
        </p:nvSpPr>
        <p:spPr>
          <a:xfrm>
            <a:off x="741700" y="8744944"/>
            <a:ext cx="18620700" cy="277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También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podemos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abrir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cuadernos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VSCode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US"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VSCode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???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160;g373bcc4fc30_0_45">
            <a:extLst>
              <a:ext uri="{FF2B5EF4-FFF2-40B4-BE49-F238E27FC236}">
                <a16:creationId xmlns:a16="http://schemas.microsoft.com/office/drawing/2014/main" id="{43EB31D9-5477-947A-420E-855281B42E90}"/>
              </a:ext>
            </a:extLst>
          </p:cNvPr>
          <p:cNvSpPr txBox="1"/>
          <p:nvPr/>
        </p:nvSpPr>
        <p:spPr>
          <a:xfrm>
            <a:off x="752039" y="7843796"/>
            <a:ext cx="18729300" cy="639257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lvl="0" algn="ctr">
              <a:buSzPts val="4000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python3 </a:t>
            </a:r>
            <a:r>
              <a:rPr lang="es-CL" sz="4000" dirty="0"/>
              <a:t>-m </a:t>
            </a:r>
            <a:r>
              <a:rPr lang="es-CL" sz="4000" dirty="0" err="1"/>
              <a:t>jupyter</a:t>
            </a:r>
            <a:r>
              <a:rPr lang="es-CL" sz="4000" dirty="0"/>
              <a:t> </a:t>
            </a:r>
            <a:r>
              <a:rPr lang="es-CL" sz="4000" dirty="0" err="1"/>
              <a:t>lab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3bcc4fc30_0_53"/>
          <p:cNvSpPr txBox="1"/>
          <p:nvPr/>
        </p:nvSpPr>
        <p:spPr>
          <a:xfrm>
            <a:off x="746875" y="2228825"/>
            <a:ext cx="18620700" cy="27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También conocidas como entornos de desarrollo o editores de código, son herramientas que usaremos para escribir, editar y gestionar nuestro código de manera más eficiente.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g373bcc4fc30_0_53"/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Interfaces de desarrollo (IDE’s)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73bcc4fc30_0_53" descr="a dog wearing headphones sits at a desk in front of a laptop computer (Provided by Tenor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16602" y="4572000"/>
            <a:ext cx="5484425" cy="55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73bcc4fc30_0_53"/>
          <p:cNvSpPr txBox="1"/>
          <p:nvPr/>
        </p:nvSpPr>
        <p:spPr>
          <a:xfrm>
            <a:off x="746875" y="4934225"/>
            <a:ext cx="10351800" cy="294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Recomendamos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usar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VSCode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LiteXL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n-U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el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entorno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tendrán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disponible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sus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actividades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utilizarán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LiteXL</a:t>
            </a:r>
            <a:endParaRPr lang="en-U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5e3a41fc7_0_1"/>
          <p:cNvSpPr txBox="1"/>
          <p:nvPr/>
        </p:nvSpPr>
        <p:spPr>
          <a:xfrm>
            <a:off x="746875" y="2228825"/>
            <a:ext cx="18620700" cy="61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una forma más directa de comunicarse con el computador. Comandos útiles:</a:t>
            </a: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cd: moverse de directorio.</a:t>
            </a: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dir/ls: mostrar contenido de un directorio.</a:t>
            </a: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mkdir: crear un directorio.</a:t>
            </a: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pwd: mostrar ruta absoluta del directorio.</a:t>
            </a: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g395e3a41fc7_0_1"/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Terminal</a:t>
            </a:r>
            <a:endParaRPr sz="8800" b="1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6" name="Google Shape;176;g395e3a41fc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9829" y="4572007"/>
            <a:ext cx="5442401" cy="40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/>
          <p:cNvSpPr txBox="1"/>
          <p:nvPr/>
        </p:nvSpPr>
        <p:spPr>
          <a:xfrm>
            <a:off x="746875" y="2228825"/>
            <a:ext cx="18620700" cy="484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nueva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carpeta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muévete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hacia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ella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 un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archivo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python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vacío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Edítalo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(con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VSCode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LiteXL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bloc de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notas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para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imprima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algo.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Córrelo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terminal.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último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la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consola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python y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haz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mismo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g395e3a41fc7_0_11"/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Terminal: ejercicio</a:t>
            </a:r>
            <a:endParaRPr sz="8800" b="1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" name="Google Shape;183;g395e3a41fc7_0_11"/>
          <p:cNvPicPr preferRelativeResize="0"/>
          <p:nvPr/>
        </p:nvPicPr>
        <p:blipFill rotWithShape="1">
          <a:blip r:embed="rId3">
            <a:alphaModFix/>
          </a:blip>
          <a:srcRect l="6100" r="-6100"/>
          <a:stretch/>
        </p:blipFill>
        <p:spPr>
          <a:xfrm>
            <a:off x="10838100" y="6356600"/>
            <a:ext cx="8065176" cy="42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478D05E4-F6A3-FDBE-159E-2D6BD08E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8511A98C-8DC6-F831-39A5-1B5FD5593564}"/>
              </a:ext>
            </a:extLst>
          </p:cNvPr>
          <p:cNvSpPr txBox="1"/>
          <p:nvPr/>
        </p:nvSpPr>
        <p:spPr>
          <a:xfrm>
            <a:off x="746875" y="2228825"/>
            <a:ext cx="18620700" cy="553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ya saben, para sus actividades de los días jueves deberán iniciar su computador desde un sistema operativo modificado que se les entregará.</a:t>
            </a: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s-E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ese entorno limitado podrán acceder a herramientas como </a:t>
            </a:r>
            <a:r>
              <a:rPr lang="es-E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LiteXL</a:t>
            </a: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s-E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</a:t>
            </a: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Stack </a:t>
            </a:r>
            <a:r>
              <a:rPr lang="es-E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Overflow</a:t>
            </a: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s-E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utilizar este entorno deben seguir los siguientes pasos: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8C5FAFA0-F0EE-B01D-92F3-4A2B18DA48F2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Actividades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Imagen 1" descr="Archivo:Lubuntu logo only.svg - Wikipedia, la enciclopedia libre">
            <a:extLst>
              <a:ext uri="{FF2B5EF4-FFF2-40B4-BE49-F238E27FC236}">
                <a16:creationId xmlns:a16="http://schemas.microsoft.com/office/drawing/2014/main" id="{3BBABD31-540C-8DE8-D9B9-27DCF6E6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650" y="6347462"/>
            <a:ext cx="4473288" cy="447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05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15107631-3C29-54AA-7983-4D3F9776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FA1F8F14-E518-AE9A-FF48-9C88C29BAC10}"/>
              </a:ext>
            </a:extLst>
          </p:cNvPr>
          <p:cNvSpPr txBox="1"/>
          <p:nvPr/>
        </p:nvSpPr>
        <p:spPr>
          <a:xfrm>
            <a:off x="892348" y="2220191"/>
            <a:ext cx="18620700" cy="828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Descarga </a:t>
            </a:r>
            <a:r>
              <a:rPr lang="es-CL" sz="4000" b="1" dirty="0"/>
              <a:t>Balena Etcher</a:t>
            </a:r>
            <a:r>
              <a:rPr lang="es-CL" sz="4000" dirty="0"/>
              <a:t> e instálalo. </a:t>
            </a:r>
          </a:p>
          <a:p>
            <a:pPr marR="5080" lvl="0">
              <a:lnSpc>
                <a:spcPct val="112300"/>
              </a:lnSpc>
              <a:buClr>
                <a:schemeClr val="dk1"/>
              </a:buClr>
              <a:buSzPts val="4000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Consigue un pendrive de </a:t>
            </a:r>
            <a:r>
              <a:rPr lang="es-CL" sz="4000" b="1" dirty="0"/>
              <a:t>16 GB </a:t>
            </a:r>
            <a:r>
              <a:rPr lang="es-CL" sz="4000" b="1"/>
              <a:t>o más,</a:t>
            </a:r>
            <a:r>
              <a:rPr lang="es-CL" sz="4000"/>
              <a:t> </a:t>
            </a:r>
            <a:r>
              <a:rPr lang="es-CL" sz="4000" dirty="0">
                <a:solidFill>
                  <a:srgbClr val="FF0000"/>
                </a:solidFill>
              </a:rPr>
              <a:t>se borra completo</a:t>
            </a:r>
            <a:r>
              <a:rPr lang="es-CL" sz="4000" dirty="0"/>
              <a:t>, así que respalda lo que tengas ahí.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E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Descarga el archivo .</a:t>
            </a:r>
            <a:r>
              <a:rPr lang="es-E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iso</a:t>
            </a:r>
            <a:r>
              <a:rPr lang="es-E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se les entregará durante la semana.</a:t>
            </a:r>
          </a:p>
          <a:p>
            <a:pPr marL="457200" marR="5080" lvl="0" indent="-45720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s-E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Abre Etcher, presiona </a:t>
            </a:r>
            <a:r>
              <a:rPr lang="es-CL" sz="4000" b="1" dirty="0"/>
              <a:t>Flash </a:t>
            </a:r>
            <a:r>
              <a:rPr lang="es-CL" sz="4000" b="1" dirty="0" err="1"/>
              <a:t>from</a:t>
            </a:r>
            <a:r>
              <a:rPr lang="es-CL" sz="4000" b="1" dirty="0"/>
              <a:t> file</a:t>
            </a:r>
            <a:r>
              <a:rPr lang="es-CL" sz="4000" dirty="0"/>
              <a:t> y elige la ISO que les entregamos. En </a:t>
            </a:r>
            <a:r>
              <a:rPr lang="es-CL" sz="4000" b="1" dirty="0" err="1"/>
              <a:t>Select</a:t>
            </a:r>
            <a:r>
              <a:rPr lang="es-CL" sz="4000" b="1" dirty="0"/>
              <a:t> target</a:t>
            </a:r>
            <a:r>
              <a:rPr lang="es-CL" sz="4000" dirty="0"/>
              <a:t> marca tu pendrive (revisa bien la letra de la unidad) y presiona </a:t>
            </a:r>
            <a:r>
              <a:rPr lang="es-CL" sz="4000" b="1" dirty="0"/>
              <a:t>Flash</a:t>
            </a:r>
            <a:r>
              <a:rPr lang="es-CL" sz="4000" dirty="0"/>
              <a:t>. 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Toma unos minutos, espera a que aparezca </a:t>
            </a:r>
            <a:r>
              <a:rPr lang="es-CL" sz="4000" i="1" dirty="0"/>
              <a:t>Flash Complete</a:t>
            </a:r>
            <a:r>
              <a:rPr lang="es-CL" sz="4000" dirty="0"/>
              <a:t> antes de sacarlo.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25AA6EC6-2CCF-00F5-3052-816F0A863F08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Preparar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pendrive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Imagen 2" descr="balenaEtcher | Automated Patch Management | App Catalog">
            <a:extLst>
              <a:ext uri="{FF2B5EF4-FFF2-40B4-BE49-F238E27FC236}">
                <a16:creationId xmlns:a16="http://schemas.microsoft.com/office/drawing/2014/main" id="{26EE6BCB-3514-192D-5EE1-1D1B142D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8377" y="-270163"/>
            <a:ext cx="4218709" cy="421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73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766D5301-3E53-453C-A229-F25864A4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60B7B7B5-7701-49E4-5180-E966D2C188D8}"/>
              </a:ext>
            </a:extLst>
          </p:cNvPr>
          <p:cNvSpPr txBox="1"/>
          <p:nvPr/>
        </p:nvSpPr>
        <p:spPr>
          <a:xfrm>
            <a:off x="892348" y="2220191"/>
            <a:ext cx="18620700" cy="828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Conecta el pendrive ya flasheado.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Si estás en Windows abre tu terminal y escribe el comando: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Tu computador se reiniciará y aparecerá en la pantalla </a:t>
            </a:r>
            <a:r>
              <a:rPr lang="es-CL" sz="4000" b="1" dirty="0"/>
              <a:t>"Elegir una opción"</a:t>
            </a:r>
            <a:r>
              <a:rPr lang="es-CL" sz="4000" dirty="0"/>
              <a:t>. Selecciona </a:t>
            </a:r>
            <a:r>
              <a:rPr lang="es-CL" sz="4000" b="1" dirty="0"/>
              <a:t>"Usar un dispositivo" / "Use a </a:t>
            </a:r>
            <a:r>
              <a:rPr lang="es-CL" sz="4000" b="1" dirty="0" err="1"/>
              <a:t>device</a:t>
            </a:r>
            <a:r>
              <a:rPr lang="es-CL" sz="4000" b="1" dirty="0"/>
              <a:t>"</a:t>
            </a:r>
            <a:r>
              <a:rPr lang="es-CL" sz="4000" dirty="0"/>
              <a:t>.</a:t>
            </a:r>
          </a:p>
          <a:p>
            <a:pPr marL="457200" marR="508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Te muestra la lista de dispositivos de arranque disponibles: elige el que corresponda a tu </a:t>
            </a:r>
            <a:r>
              <a:rPr lang="es-CL" sz="4000" b="1" dirty="0"/>
              <a:t>pendrive</a:t>
            </a:r>
            <a:r>
              <a:rPr lang="es-CL" sz="4000" dirty="0"/>
              <a:t> (suele decir </a:t>
            </a:r>
            <a:r>
              <a:rPr lang="es-CL" sz="4000" i="1" dirty="0"/>
              <a:t>USB</a:t>
            </a:r>
            <a:r>
              <a:rPr lang="es-CL" sz="4000" dirty="0"/>
              <a:t>, </a:t>
            </a:r>
            <a:r>
              <a:rPr lang="es-CL" sz="4000" i="1" dirty="0"/>
              <a:t>UEFI: &lt;marca del pendrive&gt;</a:t>
            </a:r>
            <a:r>
              <a:rPr lang="es-CL" sz="4000" dirty="0"/>
              <a:t> o el nombre de la marca).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808DF815-BCAF-BE3D-E1E5-6F281AEA4F8A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Iniciar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160;g373bcc4fc30_0_45">
            <a:extLst>
              <a:ext uri="{FF2B5EF4-FFF2-40B4-BE49-F238E27FC236}">
                <a16:creationId xmlns:a16="http://schemas.microsoft.com/office/drawing/2014/main" id="{74C1ACD0-EA06-7A20-2411-5DA45FEF6B0C}"/>
              </a:ext>
            </a:extLst>
          </p:cNvPr>
          <p:cNvSpPr txBox="1"/>
          <p:nvPr/>
        </p:nvSpPr>
        <p:spPr>
          <a:xfrm>
            <a:off x="5786466" y="4661251"/>
            <a:ext cx="6994352" cy="639257"/>
          </a:xfrm>
          <a:prstGeom prst="rect">
            <a:avLst/>
          </a:prstGeom>
          <a:noFill/>
          <a:ln w="523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lvl="0" algn="ctr">
              <a:buSzPts val="4000"/>
            </a:pPr>
            <a:r>
              <a:rPr lang="es-CL" sz="4000" dirty="0"/>
              <a:t>shutdown /r /o /t 0</a:t>
            </a:r>
            <a:endParaRPr sz="4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" name="Imagen 8" descr="Windows (@Windows) / Posts / X">
            <a:extLst>
              <a:ext uri="{FF2B5EF4-FFF2-40B4-BE49-F238E27FC236}">
                <a16:creationId xmlns:a16="http://schemas.microsoft.com/office/drawing/2014/main" id="{A4629884-6E54-7E44-5212-EEF76DD83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3048" y="-152401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80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B3DAAEBA-F173-0D18-767D-FC37B6ED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503CC044-699B-1326-A86D-2610FD1EC7F6}"/>
              </a:ext>
            </a:extLst>
          </p:cNvPr>
          <p:cNvSpPr txBox="1"/>
          <p:nvPr/>
        </p:nvSpPr>
        <p:spPr>
          <a:xfrm>
            <a:off x="892348" y="2220191"/>
            <a:ext cx="18620700" cy="7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Conecta el pendrive ya flasheado.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Si estás en otro sistema operativo deberás ingresar a la </a:t>
            </a:r>
            <a:r>
              <a:rPr lang="es-CL" sz="4000" b="1" dirty="0"/>
              <a:t>BIOS</a:t>
            </a:r>
            <a:r>
              <a:rPr lang="es-CL" sz="4000" dirty="0"/>
              <a:t>, para ello debes apagar tu computador, luego presionar la tecla de encendido e inmediatamente comenzar a presionar una </a:t>
            </a:r>
            <a:r>
              <a:rPr lang="es-CL" sz="4000" b="1" dirty="0"/>
              <a:t>tecla especial </a:t>
            </a:r>
            <a:r>
              <a:rPr lang="es-CL" sz="4000" dirty="0"/>
              <a:t>repetidamente, esta tecla depende de la marca del computador pero suele ser: </a:t>
            </a:r>
            <a:r>
              <a:rPr lang="es-CL" sz="4000" b="1" dirty="0"/>
              <a:t>ESC</a:t>
            </a:r>
            <a:r>
              <a:rPr lang="es-CL" sz="4000" dirty="0"/>
              <a:t>, </a:t>
            </a:r>
            <a:r>
              <a:rPr lang="es-CL" sz="4000" b="1" dirty="0"/>
              <a:t>F2</a:t>
            </a:r>
            <a:r>
              <a:rPr lang="es-CL" sz="4000" dirty="0"/>
              <a:t>, </a:t>
            </a:r>
            <a:r>
              <a:rPr lang="es-CL" sz="4000" b="1" dirty="0"/>
              <a:t>F12</a:t>
            </a:r>
            <a:r>
              <a:rPr lang="es-CL" sz="4000" dirty="0"/>
              <a:t>, </a:t>
            </a:r>
            <a:r>
              <a:rPr lang="es-CL" sz="4000" b="1" dirty="0"/>
              <a:t>F10</a:t>
            </a:r>
            <a:r>
              <a:rPr lang="es-CL" sz="4000" dirty="0"/>
              <a:t> o </a:t>
            </a:r>
            <a:r>
              <a:rPr lang="es-CL" sz="4000" b="1" dirty="0" err="1"/>
              <a:t>Supr</a:t>
            </a:r>
            <a:endParaRPr lang="es-CL" sz="4000" b="1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Una vez en la </a:t>
            </a:r>
            <a:r>
              <a:rPr lang="es-CL" sz="4000" b="1" dirty="0"/>
              <a:t>BIOS</a:t>
            </a:r>
            <a:r>
              <a:rPr lang="es-CL" sz="4000" dirty="0"/>
              <a:t> deberás cambiar el </a:t>
            </a:r>
            <a:r>
              <a:rPr lang="es-CL" sz="4000" b="1" dirty="0"/>
              <a:t>orden de arranque </a:t>
            </a:r>
            <a:r>
              <a:rPr lang="es-CL" sz="4000" dirty="0"/>
              <a:t>de tu pc y poner primero el pendrive.</a:t>
            </a:r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endParaRPr lang="es-CL" sz="4000" dirty="0"/>
          </a:p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Luego deben guardar y salir de la </a:t>
            </a:r>
            <a:r>
              <a:rPr lang="es-CL" sz="4000" b="1" dirty="0"/>
              <a:t>BIOS</a:t>
            </a:r>
            <a:r>
              <a:rPr lang="es-CL" sz="4000" dirty="0"/>
              <a:t> y se iniciará el sistema del pendrive.</a:t>
            </a:r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C8080413-759B-5A4F-755E-D32F9EDB393C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Iniciar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Imagen 1" descr="What Is Linux?">
            <a:extLst>
              <a:ext uri="{FF2B5EF4-FFF2-40B4-BE49-F238E27FC236}">
                <a16:creationId xmlns:a16="http://schemas.microsoft.com/office/drawing/2014/main" id="{1DC4B69C-06FF-D86F-ABFB-F61711B2E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942" y="143934"/>
            <a:ext cx="2971106" cy="297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52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3F9CD356-C6A4-6D98-52CE-58573340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3280610B-BBF2-7257-96FA-9F52A5EF6509}"/>
              </a:ext>
            </a:extLst>
          </p:cNvPr>
          <p:cNvSpPr txBox="1"/>
          <p:nvPr/>
        </p:nvSpPr>
        <p:spPr>
          <a:xfrm>
            <a:off x="892348" y="2220191"/>
            <a:ext cx="16325388" cy="1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Una vez iniciado el sistema saldrá una pantalla negra en la que debes seleccionar </a:t>
            </a:r>
            <a:r>
              <a:rPr lang="es-CL" sz="4000" b="1" dirty="0"/>
              <a:t>“Try </a:t>
            </a:r>
            <a:r>
              <a:rPr lang="es-CL" sz="4000" b="1" dirty="0" err="1"/>
              <a:t>or</a:t>
            </a:r>
            <a:r>
              <a:rPr lang="es-CL" sz="4000" b="1" dirty="0"/>
              <a:t> </a:t>
            </a:r>
            <a:r>
              <a:rPr lang="es-CL" sz="4000" b="1" dirty="0" err="1"/>
              <a:t>Install</a:t>
            </a:r>
            <a:r>
              <a:rPr lang="es-CL" sz="4000" b="1" dirty="0"/>
              <a:t> Lubuntu”</a:t>
            </a:r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57EE0EF6-D6B9-6289-355A-298386579E43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Pantalla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negra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Imagen 2" descr="Vista previa a tamaño completo">
            <a:extLst>
              <a:ext uri="{FF2B5EF4-FFF2-40B4-BE49-F238E27FC236}">
                <a16:creationId xmlns:a16="http://schemas.microsoft.com/office/drawing/2014/main" id="{9780F31E-7A57-E1AB-42D5-9E6F9498C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465" y="5197475"/>
            <a:ext cx="10296526" cy="5720292"/>
          </a:xfrm>
          <a:prstGeom prst="rect">
            <a:avLst/>
          </a:prstGeom>
        </p:spPr>
      </p:pic>
      <p:sp>
        <p:nvSpPr>
          <p:cNvPr id="7" name="Google Shape;181;g395e3a41fc7_0_11">
            <a:extLst>
              <a:ext uri="{FF2B5EF4-FFF2-40B4-BE49-F238E27FC236}">
                <a16:creationId xmlns:a16="http://schemas.microsoft.com/office/drawing/2014/main" id="{9698AE9B-9388-F32D-9870-438DBD78D9B5}"/>
              </a:ext>
            </a:extLst>
          </p:cNvPr>
          <p:cNvSpPr txBox="1"/>
          <p:nvPr/>
        </p:nvSpPr>
        <p:spPr>
          <a:xfrm>
            <a:off x="746873" y="4014355"/>
            <a:ext cx="16325387" cy="1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Demorará un rato en cargar y luego saldrá una pantalla azul de Lubuntu.</a:t>
            </a:r>
          </a:p>
        </p:txBody>
      </p:sp>
    </p:spTree>
    <p:extLst>
      <p:ext uri="{BB962C8B-B14F-4D97-AF65-F5344CB8AC3E}">
        <p14:creationId xmlns:p14="http://schemas.microsoft.com/office/powerpoint/2010/main" val="2306258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5798F1FC-0138-3236-B4FB-D0B9FD75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16602FE4-74CB-4B1E-EDC4-8E748B6479FD}"/>
              </a:ext>
            </a:extLst>
          </p:cNvPr>
          <p:cNvSpPr txBox="1"/>
          <p:nvPr/>
        </p:nvSpPr>
        <p:spPr>
          <a:xfrm>
            <a:off x="892348" y="2220191"/>
            <a:ext cx="16325388" cy="1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Una vez te aparezca la pantalla azul debes escoger conectarse a una red de internet</a:t>
            </a:r>
            <a:endParaRPr lang="es-CL" sz="4000" b="1" dirty="0"/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F10AC121-7349-9B13-EFD9-55EE2E5C6EE6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Pantalla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azul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181;g395e3a41fc7_0_11">
            <a:extLst>
              <a:ext uri="{FF2B5EF4-FFF2-40B4-BE49-F238E27FC236}">
                <a16:creationId xmlns:a16="http://schemas.microsoft.com/office/drawing/2014/main" id="{5932ADAE-F9CF-9B72-81DA-7C62806C7473}"/>
              </a:ext>
            </a:extLst>
          </p:cNvPr>
          <p:cNvSpPr txBox="1"/>
          <p:nvPr/>
        </p:nvSpPr>
        <p:spPr>
          <a:xfrm>
            <a:off x="892349" y="4000578"/>
            <a:ext cx="16325387" cy="70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Una vez conectado debes presionar el botón de </a:t>
            </a:r>
            <a:r>
              <a:rPr lang="es-CL" sz="4000" b="1" dirty="0"/>
              <a:t>“Try Lubuntu”</a:t>
            </a:r>
          </a:p>
        </p:txBody>
      </p:sp>
      <p:pic>
        <p:nvPicPr>
          <p:cNvPr id="4" name="Imagen 3" descr="Vista previa a tamaño completo">
            <a:extLst>
              <a:ext uri="{FF2B5EF4-FFF2-40B4-BE49-F238E27FC236}">
                <a16:creationId xmlns:a16="http://schemas.microsoft.com/office/drawing/2014/main" id="{08FE1010-20B3-FD45-DCAC-9A65EB8D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48" y="5060372"/>
            <a:ext cx="7704273" cy="572920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1FDBE77-C5DF-B3B8-63F4-15AD13B74B7F}"/>
              </a:ext>
            </a:extLst>
          </p:cNvPr>
          <p:cNvSpPr/>
          <p:nvPr/>
        </p:nvSpPr>
        <p:spPr>
          <a:xfrm>
            <a:off x="1724890" y="8801100"/>
            <a:ext cx="2576946" cy="12780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2BBBB8F-9CB8-1806-B5A9-8BE8D34EDF3A}"/>
              </a:ext>
            </a:extLst>
          </p:cNvPr>
          <p:cNvSpPr/>
          <p:nvPr/>
        </p:nvSpPr>
        <p:spPr>
          <a:xfrm>
            <a:off x="8925791" y="5964382"/>
            <a:ext cx="10626376" cy="242108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Google Shape;181;g395e3a41fc7_0_11">
            <a:extLst>
              <a:ext uri="{FF2B5EF4-FFF2-40B4-BE49-F238E27FC236}">
                <a16:creationId xmlns:a16="http://schemas.microsoft.com/office/drawing/2014/main" id="{C92BDCB9-3BB3-0B6F-2B17-FEEAF44364B9}"/>
              </a:ext>
            </a:extLst>
          </p:cNvPr>
          <p:cNvSpPr txBox="1"/>
          <p:nvPr/>
        </p:nvSpPr>
        <p:spPr>
          <a:xfrm>
            <a:off x="8925791" y="6133107"/>
            <a:ext cx="10497125" cy="208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R="5080" lvl="0" algn="ctr">
              <a:lnSpc>
                <a:spcPct val="112300"/>
              </a:lnSpc>
              <a:buClr>
                <a:schemeClr val="dk1"/>
              </a:buClr>
              <a:buSzPts val="4000"/>
            </a:pPr>
            <a:r>
              <a:rPr lang="es-CL" sz="4000" dirty="0"/>
              <a:t>⚠️ </a:t>
            </a:r>
            <a:r>
              <a:rPr lang="es-CL" sz="4000" b="1" dirty="0"/>
              <a:t>Jamás presionen "</a:t>
            </a:r>
            <a:r>
              <a:rPr lang="es-CL" sz="4000" b="1" dirty="0" err="1"/>
              <a:t>Install</a:t>
            </a:r>
            <a:r>
              <a:rPr lang="es-CL" sz="4000" b="1" dirty="0"/>
              <a:t> Lubuntu"</a:t>
            </a:r>
            <a:r>
              <a:rPr lang="es-CL" sz="4000" dirty="0"/>
              <a:t>: </a:t>
            </a:r>
          </a:p>
          <a:p>
            <a:pPr marR="5080" lvl="0" algn="ctr">
              <a:lnSpc>
                <a:spcPct val="112300"/>
              </a:lnSpc>
              <a:buClr>
                <a:schemeClr val="dk1"/>
              </a:buClr>
              <a:buSzPts val="4000"/>
            </a:pPr>
            <a:r>
              <a:rPr lang="es-CL" sz="4000" dirty="0"/>
              <a:t>ese botón instala el sistema en tu disco y borra tu sistema operativo.</a:t>
            </a:r>
            <a:endParaRPr lang="es-CL" sz="4000" b="1" dirty="0"/>
          </a:p>
        </p:txBody>
      </p:sp>
    </p:spTree>
    <p:extLst>
      <p:ext uri="{BB962C8B-B14F-4D97-AF65-F5344CB8AC3E}">
        <p14:creationId xmlns:p14="http://schemas.microsoft.com/office/powerpoint/2010/main" val="4080751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4FBAE91F-F24C-F254-EA04-40B5C6B7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73172F2C-A7F1-EB50-3B02-93E727B7A408}"/>
              </a:ext>
            </a:extLst>
          </p:cNvPr>
          <p:cNvSpPr txBox="1"/>
          <p:nvPr/>
        </p:nvSpPr>
        <p:spPr>
          <a:xfrm>
            <a:off x="892348" y="2220191"/>
            <a:ext cx="16325388" cy="1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Finalmente les aparecerá una pantalla donde deben ingresar algunos datos, una vez que los completen podrán acceder al sistema.</a:t>
            </a:r>
            <a:endParaRPr lang="es-CL" sz="4000" b="1" dirty="0"/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A78D9C57-602B-6D33-AE40-6F5F69E26D9A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eso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A511BA-6D0E-9087-5F79-C66676252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794" y="4101605"/>
            <a:ext cx="9538133" cy="596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51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134FF8C5-1F46-FB34-3618-8FC32896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e3a41fc7_0_11">
            <a:extLst>
              <a:ext uri="{FF2B5EF4-FFF2-40B4-BE49-F238E27FC236}">
                <a16:creationId xmlns:a16="http://schemas.microsoft.com/office/drawing/2014/main" id="{19C3B4E8-7180-C5CF-3F24-271391A2BA8D}"/>
              </a:ext>
            </a:extLst>
          </p:cNvPr>
          <p:cNvSpPr txBox="1"/>
          <p:nvPr/>
        </p:nvSpPr>
        <p:spPr>
          <a:xfrm>
            <a:off x="892348" y="2220191"/>
            <a:ext cx="16325388" cy="208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57200" marR="5080" lvl="0" indent="-457200">
              <a:lnSpc>
                <a:spcPct val="112300"/>
              </a:lnSpc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s-CL" sz="4000" dirty="0"/>
              <a:t>Las personas que tengan un computador MAC deben tener descargado Safe </a:t>
            </a:r>
            <a:r>
              <a:rPr lang="es-CL" sz="4000" dirty="0" err="1"/>
              <a:t>Exam</a:t>
            </a:r>
            <a:r>
              <a:rPr lang="es-CL" sz="4000" dirty="0"/>
              <a:t> Browser (SEB) y para cada actividad se les entregará un archivo que deben abrir.</a:t>
            </a:r>
            <a:endParaRPr lang="es-CL" sz="4000" b="1" dirty="0"/>
          </a:p>
        </p:txBody>
      </p:sp>
      <p:sp>
        <p:nvSpPr>
          <p:cNvPr id="182" name="Google Shape;182;g395e3a41fc7_0_11">
            <a:extLst>
              <a:ext uri="{FF2B5EF4-FFF2-40B4-BE49-F238E27FC236}">
                <a16:creationId xmlns:a16="http://schemas.microsoft.com/office/drawing/2014/main" id="{4E36A273-0113-A49F-28E9-DC988C6A0ED6}"/>
              </a:ext>
            </a:extLst>
          </p:cNvPr>
          <p:cNvSpPr txBox="1"/>
          <p:nvPr/>
        </p:nvSpPr>
        <p:spPr>
          <a:xfrm>
            <a:off x="746874" y="488600"/>
            <a:ext cx="17992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8800" b="1" dirty="0" err="1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tengo</a:t>
            </a:r>
            <a:r>
              <a:rPr lang="en-US" sz="8800" b="1" dirty="0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MAC?</a:t>
            </a:r>
            <a:endParaRPr sz="8800" b="1" dirty="0">
              <a:solidFill>
                <a:srgbClr val="F32B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Imagen 1" descr="Safe Exam Browser · GitHub">
            <a:extLst>
              <a:ext uri="{FF2B5EF4-FFF2-40B4-BE49-F238E27FC236}">
                <a16:creationId xmlns:a16="http://schemas.microsoft.com/office/drawing/2014/main" id="{42C58D08-F7D0-8FD7-C36F-C50ED8FBC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0999" y="5654675"/>
            <a:ext cx="4340655" cy="4340655"/>
          </a:xfrm>
          <a:prstGeom prst="rect">
            <a:avLst/>
          </a:prstGeom>
        </p:spPr>
      </p:pic>
      <p:pic>
        <p:nvPicPr>
          <p:cNvPr id="22" name="Imagen 21" descr="Archivo:Lubuntu logo only.svg - Wikipedia, la enciclopedia libre">
            <a:extLst>
              <a:ext uri="{FF2B5EF4-FFF2-40B4-BE49-F238E27FC236}">
                <a16:creationId xmlns:a16="http://schemas.microsoft.com/office/drawing/2014/main" id="{67CF7F61-72F6-B121-DE5C-A7FBD1E56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44" y="5954770"/>
            <a:ext cx="3740463" cy="3740463"/>
          </a:xfrm>
          <a:prstGeom prst="rect">
            <a:avLst/>
          </a:prstGeom>
        </p:spPr>
      </p:pic>
      <p:pic>
        <p:nvPicPr>
          <p:cNvPr id="6" name="Imagen 5" descr="2024 Apple MacBook Pro 16-inch M4 Pro 14-core 48GB 512GB - Space Black -  MacFinder">
            <a:extLst>
              <a:ext uri="{FF2B5EF4-FFF2-40B4-BE49-F238E27FC236}">
                <a16:creationId xmlns:a16="http://schemas.microsoft.com/office/drawing/2014/main" id="{8C41E814-C25F-404E-61FD-08DEC93F7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554" y="4549929"/>
            <a:ext cx="6640667" cy="6640667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1224AE54-43FA-DFAD-C4DE-B24FA97B2E2E}"/>
              </a:ext>
            </a:extLst>
          </p:cNvPr>
          <p:cNvGrpSpPr/>
          <p:nvPr/>
        </p:nvGrpSpPr>
        <p:grpSpPr>
          <a:xfrm>
            <a:off x="1043816" y="6166563"/>
            <a:ext cx="2944800" cy="3407400"/>
            <a:chOff x="1043816" y="6166563"/>
            <a:chExt cx="2944800" cy="340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58DC8CA-8269-5447-E5A1-83B5DAEF314C}"/>
                    </a:ext>
                  </a:extLst>
                </p14:cNvPr>
                <p14:cNvContentPartPr/>
                <p14:nvPr/>
              </p14:nvContentPartPr>
              <p14:xfrm>
                <a:off x="1043816" y="6523323"/>
                <a:ext cx="2680920" cy="24382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58DC8CA-8269-5447-E5A1-83B5DAEF31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0816" y="6460323"/>
                  <a:ext cx="2806560" cy="25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978BCDC1-F4C9-ED94-C1C8-0FA923E0DF25}"/>
                    </a:ext>
                  </a:extLst>
                </p14:cNvPr>
                <p14:cNvContentPartPr/>
                <p14:nvPr/>
              </p14:nvContentPartPr>
              <p14:xfrm>
                <a:off x="1270976" y="6166563"/>
                <a:ext cx="2717640" cy="34074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978BCDC1-F4C9-ED94-C1C8-0FA923E0DF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08336" y="6103563"/>
                  <a:ext cx="2843280" cy="353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F6AA559E-620E-1E40-D15D-CB213C7D94FE}"/>
                  </a:ext>
                </a:extLst>
              </p14:cNvPr>
              <p14:cNvContentPartPr/>
              <p14:nvPr/>
            </p14:nvContentPartPr>
            <p14:xfrm>
              <a:off x="15599696" y="5857323"/>
              <a:ext cx="2728440" cy="330264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F6AA559E-620E-1E40-D15D-CB213C7D94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36696" y="5794683"/>
                <a:ext cx="2854080" cy="342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8196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3bcc4fc30_0_63"/>
          <p:cNvSpPr txBox="1"/>
          <p:nvPr/>
        </p:nvSpPr>
        <p:spPr>
          <a:xfrm>
            <a:off x="746875" y="2228825"/>
            <a:ext cx="18620700" cy="622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Sigue la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metodología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llega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las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idealmente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las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ayudantías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con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estudiados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lang="en-US"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suelve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</a:t>
            </a:r>
            <a:r>
              <a:rPr lang="en-US" sz="4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propuestos</a:t>
            </a:r>
            <a:r>
              <a:rPr lang="en-US" sz="4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aplicando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reales.</a:t>
            </a: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endParaRPr sz="4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060" marR="5080" lvl="0" indent="-34036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empezar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Divide lo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hay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hacer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partes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pequeñas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avanza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ahí.</a:t>
            </a: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5080" lvl="0" indent="0" algn="l" rtl="0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g373bcc4fc30_0_63"/>
          <p:cNvSpPr txBox="1"/>
          <p:nvPr/>
        </p:nvSpPr>
        <p:spPr>
          <a:xfrm>
            <a:off x="746874" y="488600"/>
            <a:ext cx="161289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Consejos para el curso :3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6" descr="a brown and white dog is sitting on a leash on a carpet . (Provided by Tenor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0725" y="1993350"/>
            <a:ext cx="7322651" cy="732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746874" y="488600"/>
            <a:ext cx="161289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F32B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¡Éxito!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1349</Words>
  <Application>Microsoft Office PowerPoint</Application>
  <PresentationFormat>Personalizado</PresentationFormat>
  <Paragraphs>154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Helvetica Neue</vt:lpstr>
      <vt:lpstr>Calibri</vt:lpstr>
      <vt:lpstr>Office Theme</vt:lpstr>
      <vt:lpstr>Programación Avanzada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Bastián Ignacio Pérez Pino</cp:lastModifiedBy>
  <cp:revision>3</cp:revision>
  <dcterms:created xsi:type="dcterms:W3CDTF">2025-07-28T00:21:54Z</dcterms:created>
  <dcterms:modified xsi:type="dcterms:W3CDTF">2026-08-11T01:18:18Z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2024-08-12T00:00:00Z</vt:filetime>
  </property>
  <property fmtid="{D5CDD505-2E9C-101B-9397-08002B2CF9AE}" pid="3" name="Creator">
    <vt:lpwstr>Keynote</vt:lpwstr>
  </property>
  <property fmtid="{D5CDD505-2E9C-101B-9397-08002B2CF9AE}" pid="4" name="LastSaved">
    <vt:filetime>2025-07-28T00:00:00Z</vt:filetime>
  </property>
  <property fmtid="{D5CDD505-2E9C-101B-9397-08002B2CF9AE}" pid="5" name="Producer">
    <vt:lpwstr>macOS Versión 14.1 (Fase 23B2073) Quartz PDFContext</vt:lpwstr>
  </property>
</Properties>
</file>