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0" r:id="rId6"/>
    <p:sldId id="258" r:id="rId7"/>
    <p:sldId id="260" r:id="rId8"/>
    <p:sldId id="261" r:id="rId9"/>
    <p:sldId id="262" r:id="rId10"/>
    <p:sldId id="271" r:id="rId11"/>
    <p:sldId id="272" r:id="rId12"/>
    <p:sldId id="273" r:id="rId13"/>
    <p:sldId id="274" r:id="rId14"/>
    <p:sldId id="275" r:id="rId15"/>
    <p:sldId id="277" r:id="rId16"/>
    <p:sldId id="278" r:id="rId17"/>
    <p:sldId id="279" r:id="rId18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160"/>
    <a:srgbClr val="ED11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DD506B-73CA-47F4-8313-B8FB4969B2FA}" v="313" dt="2026-08-18T15:15:46.337"/>
    <p1510:client id="{EF67BCA7-6AB0-8346-9F83-C59B8239C321}" v="166" dt="2026-08-18T14:32:58.1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EF4796-9F5B-9674-B031-CB5FBFDC2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7BFDF2-2AE9-4B2B-58FE-8A390F2565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29AC6F-F21C-52C3-C49C-E69952A33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4DFFE-191C-48F5-93D5-F4D7BB65117D}" type="datetimeFigureOut">
              <a:rPr lang="es-CL" smtClean="0"/>
              <a:t>18-08-2026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21F7F1-766B-8B94-2EF1-206A63171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D21E21-C0B8-058A-811F-179B5532D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48908-1BD8-4CD2-8E6C-4E6B357685F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70311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960251-61AF-81A7-50FD-8F9BBA3CF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BD81D9-31A2-6D62-6C3C-05CEEF8FE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846A9A-5823-F145-1313-2511189F6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4DFFE-191C-48F5-93D5-F4D7BB65117D}" type="datetimeFigureOut">
              <a:rPr lang="es-CL" smtClean="0"/>
              <a:t>18-08-2026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C1B915-3E8B-D25D-1DFA-A1CCF0578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0C8C40-D93A-6042-F22A-7DA538F49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48908-1BD8-4CD2-8E6C-4E6B357685F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1759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5FDD0-7FF0-ED5C-AAA0-56CAEDED1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38E39A0-D164-B2A1-C741-34009A8FC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95C3F0-67E4-372E-9EA3-6792F490C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4DFFE-191C-48F5-93D5-F4D7BB65117D}" type="datetimeFigureOut">
              <a:rPr lang="es-CL" smtClean="0"/>
              <a:t>18-08-2026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BD269A-A1A4-B55D-E36F-DB4935D29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5DFDF9-879C-FECF-30AA-69C75ADA7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48908-1BD8-4CD2-8E6C-4E6B357685F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91882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175895-FA70-AC3C-FBEF-1F15B2246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7C32A3-0E1A-3541-6FEA-B5016BA745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A268B0-E8D0-2048-5C73-E67996280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1B5055-BFC2-1738-BC62-4C81CD5A1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4DFFE-191C-48F5-93D5-F4D7BB65117D}" type="datetimeFigureOut">
              <a:rPr lang="es-CL" smtClean="0"/>
              <a:t>18-08-2026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1A5CCC-A828-8ABB-049B-DF2D9C976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7D4550-BB3C-53CF-5BF1-AC575A3E9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48908-1BD8-4CD2-8E6C-4E6B357685F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39212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80E00E-6D67-9452-465C-3651D7843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0D47D6-6824-6E5F-F6F6-BBFCDAF02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1667CA0-25FA-B401-5559-ED87178A9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9A5A125-2F9D-3750-146B-57833018B2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2806F1F-FC24-0972-C894-AB0B1C72FF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60D2396-54A1-3A7D-C5C3-ADD423CD8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4DFFE-191C-48F5-93D5-F4D7BB65117D}" type="datetimeFigureOut">
              <a:rPr lang="es-CL" smtClean="0"/>
              <a:t>18-08-2026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7893EDB-4DDF-7D90-0EB1-AE8DFBA1C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7023BFD-2D75-C177-3C4C-28FCF3DF8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48908-1BD8-4CD2-8E6C-4E6B357685F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2631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9748EE-F995-B583-629C-2F79E2B37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BB05BB4-F246-E4A4-D2A2-B7A2184D1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4DFFE-191C-48F5-93D5-F4D7BB65117D}" type="datetimeFigureOut">
              <a:rPr lang="es-CL" smtClean="0"/>
              <a:t>18-08-2026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211E72E-4F3D-BEAB-318B-A9EB06C60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C36AF8-7B9E-CB88-804E-CAF1B3B24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48908-1BD8-4CD2-8E6C-4E6B357685F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60947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A0B1E3-1E0B-CCA3-569D-9471B5CE0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4DFFE-191C-48F5-93D5-F4D7BB65117D}" type="datetimeFigureOut">
              <a:rPr lang="es-CL" smtClean="0"/>
              <a:t>18-08-2026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1DB10A2-C054-96F8-4A38-609FEE509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512162-E319-09BE-A1CA-2B17F0554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48908-1BD8-4CD2-8E6C-4E6B357685F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13686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35C71D-1036-060A-3AD4-7ACF42409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CD98BF-5E03-2C8E-AEB0-F89FA0EED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A771A1B-09EF-39AC-5D09-2C972B7F9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267696E-649D-FADF-0BE4-E8660BC67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4DFFE-191C-48F5-93D5-F4D7BB65117D}" type="datetimeFigureOut">
              <a:rPr lang="es-CL" smtClean="0"/>
              <a:t>18-08-2026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16F836-FCC3-B9D4-02D1-C618623D5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1DDF1F-8EC8-84F3-C633-28BEB591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48908-1BD8-4CD2-8E6C-4E6B357685F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0553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344040-C0CA-97C4-5DAA-06C8FE0F4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350051C-8D89-89D2-6188-D4166CD83D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32CAEFE-81D9-F20B-616A-2EA38C93F4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CF8EF4C-39A4-0DB6-692C-01B3D708A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4DFFE-191C-48F5-93D5-F4D7BB65117D}" type="datetimeFigureOut">
              <a:rPr lang="es-CL" smtClean="0"/>
              <a:t>18-08-2026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8B6734-539A-9C49-2FC6-E3FEC6DD3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E9A74B-DDF3-4212-2BC8-DE9D2F33C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48908-1BD8-4CD2-8E6C-4E6B357685F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870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99CBC-CC7A-603E-B4A3-96CECA498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0A10BD-778C-F5CB-EFDA-3E29C400F4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6C0B42-4AF7-BC94-63BA-56B059CBE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4DFFE-191C-48F5-93D5-F4D7BB65117D}" type="datetimeFigureOut">
              <a:rPr lang="es-CL" smtClean="0"/>
              <a:t>18-08-2026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0AA02D-D47F-21DC-0F5F-E32EC74EE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AD961C-5015-315D-F8E0-9FA21B284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48908-1BD8-4CD2-8E6C-4E6B357685F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7303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62443F4-DC2E-56C0-2DFF-1799CDE68B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E3DD3D4-06E8-B12E-D46B-B49939CF8F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FF40D3-D172-855D-F017-916A191CA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4DFFE-191C-48F5-93D5-F4D7BB65117D}" type="datetimeFigureOut">
              <a:rPr lang="es-CL" smtClean="0"/>
              <a:t>18-08-2026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6B66D4-3144-EA3C-4630-95E20670E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F1C3C9-2043-84D7-1047-19780F613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48908-1BD8-4CD2-8E6C-4E6B357685F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95467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E86044D-92DF-85B4-472B-490F86EE2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2788A5-569D-D5F3-3F4F-61B68E1FD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AC82A6-A91C-8D6D-A422-B8BEA5EBA6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34DFFE-191C-48F5-93D5-F4D7BB65117D}" type="datetimeFigureOut">
              <a:rPr lang="es-CL" smtClean="0"/>
              <a:t>18-08-2026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7010FE-ADB4-BFDD-3EA5-E8CD5969A8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2C4CD3-9496-8899-2DDA-78D485505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248908-1BD8-4CD2-8E6C-4E6B357685F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3711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75867D-6354-1479-4081-93FA3D0D5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153264"/>
            <a:ext cx="9144000" cy="1779486"/>
          </a:xfrm>
        </p:spPr>
        <p:txBody>
          <a:bodyPr/>
          <a:lstStyle/>
          <a:p>
            <a:r>
              <a:rPr lang="es-CL" dirty="0">
                <a:latin typeface="Franklin Gothic Demi" panose="020B0703020102020204" pitchFamily="34" charset="0"/>
              </a:rPr>
              <a:t>Programación Avanzada: AY02 (EDD)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A9AA9F-598D-77AC-165E-822512A61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6852" y="4563321"/>
            <a:ext cx="9478297" cy="533399"/>
          </a:xfrm>
        </p:spPr>
        <p:txBody>
          <a:bodyPr>
            <a:normAutofit fontScale="92500"/>
          </a:bodyPr>
          <a:lstStyle/>
          <a:p>
            <a:r>
              <a:rPr lang="es-CL" b="1" dirty="0"/>
              <a:t>Josefa Buch, Bastián Pérez, Carlos Martel, André Angulo, Juan Olivares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B110FA0B-5A27-CAB6-2BA1-B9081D8424AE}"/>
              </a:ext>
            </a:extLst>
          </p:cNvPr>
          <p:cNvCxnSpPr>
            <a:cxnSpLocks/>
          </p:cNvCxnSpPr>
          <p:nvPr/>
        </p:nvCxnSpPr>
        <p:spPr>
          <a:xfrm>
            <a:off x="78658" y="0"/>
            <a:ext cx="0" cy="6858000"/>
          </a:xfrm>
          <a:prstGeom prst="line">
            <a:avLst/>
          </a:prstGeom>
          <a:ln w="152400" cmpd="sng">
            <a:solidFill>
              <a:srgbClr val="FF2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BD3DBBDA-195F-F61C-F29F-CC7AFE19A453}"/>
              </a:ext>
            </a:extLst>
          </p:cNvPr>
          <p:cNvCxnSpPr>
            <a:cxnSpLocks/>
          </p:cNvCxnSpPr>
          <p:nvPr/>
        </p:nvCxnSpPr>
        <p:spPr>
          <a:xfrm flipH="1">
            <a:off x="0" y="6794090"/>
            <a:ext cx="12192000" cy="0"/>
          </a:xfrm>
          <a:prstGeom prst="line">
            <a:avLst/>
          </a:prstGeom>
          <a:ln w="152400" cmpd="sng">
            <a:solidFill>
              <a:srgbClr val="FF2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741BB71A-26D4-6EE0-B103-2E52C9E78AE8}"/>
              </a:ext>
            </a:extLst>
          </p:cNvPr>
          <p:cNvCxnSpPr>
            <a:cxnSpLocks/>
          </p:cNvCxnSpPr>
          <p:nvPr/>
        </p:nvCxnSpPr>
        <p:spPr>
          <a:xfrm>
            <a:off x="12113342" y="0"/>
            <a:ext cx="0" cy="6858000"/>
          </a:xfrm>
          <a:prstGeom prst="line">
            <a:avLst/>
          </a:prstGeom>
          <a:ln w="152400" cmpd="sng">
            <a:solidFill>
              <a:srgbClr val="FF2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F9F7BAC3-5B20-AD8E-1AF0-52DCA5E94A7E}"/>
              </a:ext>
            </a:extLst>
          </p:cNvPr>
          <p:cNvCxnSpPr>
            <a:cxnSpLocks/>
          </p:cNvCxnSpPr>
          <p:nvPr/>
        </p:nvCxnSpPr>
        <p:spPr>
          <a:xfrm flipH="1">
            <a:off x="0" y="63909"/>
            <a:ext cx="12192000" cy="0"/>
          </a:xfrm>
          <a:prstGeom prst="line">
            <a:avLst/>
          </a:prstGeom>
          <a:ln w="152400" cmpd="sng">
            <a:solidFill>
              <a:srgbClr val="FF2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7682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8B3BF-0E6F-908D-1253-E9A5CE50C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1AE60A-4972-B0AE-C0A0-ED8ED806A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Franklin Gothic Demi" panose="020B0703020102020204" pitchFamily="34" charset="0"/>
                <a:cs typeface="Aharoni" panose="02010803020104030203" pitchFamily="2" charset="-79"/>
              </a:rPr>
              <a:t>¿Qué es una </a:t>
            </a:r>
            <a:r>
              <a:rPr lang="es-ES" dirty="0">
                <a:solidFill>
                  <a:srgbClr val="FF2160"/>
                </a:solidFill>
                <a:latin typeface="Franklin Gothic Demi" panose="020B0703020102020204" pitchFamily="34" charset="0"/>
                <a:cs typeface="Aharoni" panose="02010803020104030203" pitchFamily="2" charset="-79"/>
              </a:rPr>
              <a:t>estructura de datos (EDD)</a:t>
            </a:r>
            <a:r>
              <a:rPr lang="es-ES" dirty="0">
                <a:latin typeface="Franklin Gothic Demi" panose="020B0703020102020204" pitchFamily="34" charset="0"/>
                <a:cs typeface="Aharoni" panose="02010803020104030203" pitchFamily="2" charset="-79"/>
              </a:rPr>
              <a:t>?</a:t>
            </a:r>
            <a:endParaRPr lang="es-CL" dirty="0">
              <a:latin typeface="Franklin Gothic Demi" panose="020B0703020102020204" pitchFamily="34" charset="0"/>
              <a:cs typeface="Aharoni" panose="02010803020104030203" pitchFamily="2" charset="-79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6E5A3C8-D9F0-72A8-9D42-CC4FED788707}"/>
              </a:ext>
            </a:extLst>
          </p:cNvPr>
          <p:cNvCxnSpPr>
            <a:cxnSpLocks/>
          </p:cNvCxnSpPr>
          <p:nvPr/>
        </p:nvCxnSpPr>
        <p:spPr>
          <a:xfrm>
            <a:off x="78658" y="0"/>
            <a:ext cx="0" cy="6858000"/>
          </a:xfrm>
          <a:prstGeom prst="line">
            <a:avLst/>
          </a:prstGeom>
          <a:ln w="152400" cmpd="sng">
            <a:solidFill>
              <a:srgbClr val="FF2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466095D5-4B2B-BE6B-0197-BA64BB5470AC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/>
              <a:t>En resumen, es una cosa que </a:t>
            </a:r>
            <a:r>
              <a:rPr lang="es-CL" b="1" dirty="0">
                <a:solidFill>
                  <a:srgbClr val="FF2160"/>
                </a:solidFill>
              </a:rPr>
              <a:t>guarda datos</a:t>
            </a:r>
          </a:p>
          <a:p>
            <a:r>
              <a:rPr lang="es-CL" dirty="0"/>
              <a:t>Existen diferentes </a:t>
            </a:r>
            <a:r>
              <a:rPr lang="es-CL" dirty="0" err="1"/>
              <a:t>EDD’s</a:t>
            </a:r>
            <a:endParaRPr lang="es-CL" dirty="0"/>
          </a:p>
          <a:p>
            <a:r>
              <a:rPr lang="es-CL" dirty="0"/>
              <a:t>Cada EDD tiene </a:t>
            </a:r>
            <a:r>
              <a:rPr lang="es-CL" b="1" dirty="0">
                <a:solidFill>
                  <a:srgbClr val="FF2160"/>
                </a:solidFill>
              </a:rPr>
              <a:t>diferentes propósitos</a:t>
            </a:r>
          </a:p>
          <a:p>
            <a:r>
              <a:rPr lang="es-CL" dirty="0"/>
              <a:t>Cuál utilizar depende de: </a:t>
            </a:r>
          </a:p>
          <a:p>
            <a:pPr lvl="1"/>
            <a:r>
              <a:rPr lang="es-CL" b="1" dirty="0">
                <a:solidFill>
                  <a:srgbClr val="FF2160"/>
                </a:solidFill>
              </a:rPr>
              <a:t>Tipo de datos </a:t>
            </a:r>
            <a:r>
              <a:rPr lang="es-CL" dirty="0"/>
              <a:t>que guardamos</a:t>
            </a:r>
          </a:p>
          <a:p>
            <a:pPr lvl="1"/>
            <a:r>
              <a:rPr lang="es-CL" b="1" dirty="0">
                <a:solidFill>
                  <a:srgbClr val="FF2160"/>
                </a:solidFill>
              </a:rPr>
              <a:t>Cómo accedemos </a:t>
            </a:r>
            <a:r>
              <a:rPr lang="es-CL" dirty="0"/>
              <a:t>a ellos</a:t>
            </a:r>
          </a:p>
          <a:p>
            <a:pPr lvl="1"/>
            <a:r>
              <a:rPr lang="es-CL" dirty="0"/>
              <a:t>Si necesitamos poder </a:t>
            </a:r>
            <a:r>
              <a:rPr lang="es-CL" b="1" dirty="0">
                <a:solidFill>
                  <a:srgbClr val="FF2160"/>
                </a:solidFill>
              </a:rPr>
              <a:t>añadir/eliminar </a:t>
            </a:r>
            <a:r>
              <a:rPr lang="es-CL" dirty="0"/>
              <a:t>datos</a:t>
            </a:r>
          </a:p>
          <a:p>
            <a:pPr lvl="1"/>
            <a:r>
              <a:rPr lang="es-CL" dirty="0"/>
              <a:t>Veremos más criterios más adelante!</a:t>
            </a:r>
          </a:p>
        </p:txBody>
      </p:sp>
    </p:spTree>
    <p:extLst>
      <p:ext uri="{BB962C8B-B14F-4D97-AF65-F5344CB8AC3E}">
        <p14:creationId xmlns:p14="http://schemas.microsoft.com/office/powerpoint/2010/main" val="2961041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21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71976B-9069-E9AD-4796-6F19A82D9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s-CL" dirty="0">
                <a:solidFill>
                  <a:schemeClr val="bg1"/>
                </a:solidFill>
                <a:latin typeface="Franklin Gothic Demi" panose="020B0703020102020204" pitchFamily="34" charset="0"/>
              </a:rPr>
              <a:t>Pero a mí qué me importa, yo soy un experto con las listas </a:t>
            </a:r>
            <a:r>
              <a:rPr lang="es-CL" b="1" dirty="0">
                <a:solidFill>
                  <a:schemeClr val="bg1"/>
                </a:solidFill>
                <a:latin typeface="Franklin Gothic Demi" panose="020B0703020102020204" pitchFamily="34" charset="0"/>
              </a:rPr>
              <a:t>¿Por qué quiero más?</a:t>
            </a:r>
          </a:p>
        </p:txBody>
      </p:sp>
    </p:spTree>
    <p:extLst>
      <p:ext uri="{BB962C8B-B14F-4D97-AF65-F5344CB8AC3E}">
        <p14:creationId xmlns:p14="http://schemas.microsoft.com/office/powerpoint/2010/main" val="3413275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993CE-228C-C686-B8CB-39FC66E63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A5C98-EB04-C66F-37AB-D0CBAA29B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Franklin Gothic Demi" panose="020B0703020102020204" pitchFamily="34" charset="0"/>
              </a:rPr>
              <a:t>Las listas son, en varios casos, </a:t>
            </a:r>
            <a:r>
              <a:rPr lang="es-CL" b="1" dirty="0">
                <a:solidFill>
                  <a:srgbClr val="FF2160"/>
                </a:solidFill>
                <a:latin typeface="Franklin Gothic Demi" panose="020B0703020102020204" pitchFamily="34" charset="0"/>
              </a:rPr>
              <a:t>¡ineficientes!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AC399C-B9A9-FA15-B443-FF3A19D9F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es-CL" dirty="0"/>
              <a:t>Para muchos programas, les será muy útil poder </a:t>
            </a:r>
            <a:r>
              <a:rPr lang="es-CL" b="1" dirty="0">
                <a:solidFill>
                  <a:srgbClr val="FF2160"/>
                </a:solidFill>
              </a:rPr>
              <a:t>manejar los datos de diferentes maneras</a:t>
            </a:r>
          </a:p>
          <a:p>
            <a:r>
              <a:rPr lang="es-CL" dirty="0"/>
              <a:t>Ejemplo: Recrear un diccionario del inglés al español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BD10C317-B27A-C2CD-106E-E32B049655C1}"/>
              </a:ext>
            </a:extLst>
          </p:cNvPr>
          <p:cNvCxnSpPr>
            <a:cxnSpLocks/>
          </p:cNvCxnSpPr>
          <p:nvPr/>
        </p:nvCxnSpPr>
        <p:spPr>
          <a:xfrm>
            <a:off x="78658" y="0"/>
            <a:ext cx="0" cy="6858000"/>
          </a:xfrm>
          <a:prstGeom prst="line">
            <a:avLst/>
          </a:prstGeom>
          <a:ln w="152400" cmpd="sng">
            <a:solidFill>
              <a:srgbClr val="FF2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3800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9CA4F9-2B6F-15D5-72BE-19B6A218E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Franklin Gothic Demi" panose="020B0703020102020204" pitchFamily="34" charset="0"/>
              </a:rPr>
              <a:t>Intentémoslo con una lista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CB6167-7472-44C3-5241-1B30FD9F1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Creamos dos listas: la primera contiene las palabras en español, la segunda las palabras en inglés.</a:t>
            </a:r>
          </a:p>
          <a:p>
            <a:r>
              <a:rPr lang="es-CL" dirty="0"/>
              <a:t>Ejemplo </a:t>
            </a:r>
          </a:p>
          <a:p>
            <a:pPr lvl="1"/>
            <a:r>
              <a:rPr lang="es-CL" dirty="0"/>
              <a:t>[“Estructuras”, “Datos”, “Geniales”]</a:t>
            </a:r>
          </a:p>
          <a:p>
            <a:pPr lvl="1"/>
            <a:r>
              <a:rPr lang="es-CL" dirty="0"/>
              <a:t>[“</a:t>
            </a:r>
            <a:r>
              <a:rPr lang="es-CL" dirty="0" err="1"/>
              <a:t>Structures</a:t>
            </a:r>
            <a:r>
              <a:rPr lang="es-CL" dirty="0"/>
              <a:t>”, “Data”, “Great”]</a:t>
            </a:r>
          </a:p>
          <a:p>
            <a:r>
              <a:rPr lang="es-CL" dirty="0"/>
              <a:t>Si quisiéramos la traducción de “Geniales”, tendríamos que recorrer la primera lista hasta encontrar esta palabra. Luego deberíamos tener la traducción de esta en el mismo índice de la otra lista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823D7969-F5E8-AB8E-E222-2F6C96831C50}"/>
              </a:ext>
            </a:extLst>
          </p:cNvPr>
          <p:cNvCxnSpPr>
            <a:cxnSpLocks/>
          </p:cNvCxnSpPr>
          <p:nvPr/>
        </p:nvCxnSpPr>
        <p:spPr>
          <a:xfrm>
            <a:off x="78658" y="0"/>
            <a:ext cx="0" cy="6858000"/>
          </a:xfrm>
          <a:prstGeom prst="line">
            <a:avLst/>
          </a:prstGeom>
          <a:ln w="152400" cmpd="sng">
            <a:solidFill>
              <a:srgbClr val="FF2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710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7D832-0C59-F5CC-7D0F-D4B6B1B9F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B8015C-CC16-AEF0-9419-59221C4A0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Franklin Gothic Demi" panose="020B0703020102020204" pitchFamily="34" charset="0"/>
              </a:rPr>
              <a:t>¿Qué problemas puede tener?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98B759A-7A3A-EE3C-1D00-F2105749F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Añadir palabras sería complicado ¿por qué?</a:t>
            </a:r>
          </a:p>
          <a:p>
            <a:r>
              <a:rPr lang="es-CL" dirty="0"/>
              <a:t>Si una palabra tiene dos significados sería complicado encontrarlas todas y me podría tomar mucho tiempo.</a:t>
            </a:r>
          </a:p>
          <a:p>
            <a:r>
              <a:rPr lang="es-CL" dirty="0"/>
              <a:t>Según la RAE, el español tiene más de 93.000 palabras, cada una con diferentes significados que podrían cambiar la traducción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95F89A18-02F6-8CEE-1910-7E3C05F3B3F3}"/>
              </a:ext>
            </a:extLst>
          </p:cNvPr>
          <p:cNvCxnSpPr>
            <a:cxnSpLocks/>
          </p:cNvCxnSpPr>
          <p:nvPr/>
        </p:nvCxnSpPr>
        <p:spPr>
          <a:xfrm>
            <a:off x="78658" y="0"/>
            <a:ext cx="0" cy="6858000"/>
          </a:xfrm>
          <a:prstGeom prst="line">
            <a:avLst/>
          </a:prstGeom>
          <a:ln w="152400" cmpd="sng">
            <a:solidFill>
              <a:srgbClr val="FF2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4103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21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83D192-DDF9-F044-87F0-94CBC71E6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716F59-8D70-2B62-02E4-A4F22C823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s-ES" dirty="0">
                <a:solidFill>
                  <a:schemeClr val="bg1"/>
                </a:solidFill>
                <a:latin typeface="Franklin Gothic Demi" panose="020B0703020102020204" pitchFamily="34" charset="0"/>
              </a:rPr>
              <a:t>¿Y qué hacemos si nuestras ya preciadas listas funcionan así de mal en ciertos casos? ¡Probemos otras Estructuras de Datos!</a:t>
            </a:r>
            <a:endParaRPr lang="es-CL" b="1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126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21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6E534E-1D89-B017-D7D8-06E95987D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609A2C-46EA-DF45-C0BC-31E9AF646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s-ES" dirty="0">
                <a:solidFill>
                  <a:schemeClr val="bg1"/>
                </a:solidFill>
                <a:latin typeface="Franklin Gothic Demi" panose="020B0703020102020204" pitchFamily="34" charset="0"/>
              </a:rPr>
              <a:t>Para cada problema que encontramos en una lista (u otras EDD) tenemos otra estructura que lo soluciona</a:t>
            </a:r>
            <a:endParaRPr lang="es-CL" b="1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011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F7E8E-1C9B-804D-1AD2-0F58C1407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5EC39-13CF-A89F-0299-9291B431F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5564"/>
            <a:ext cx="10515600" cy="1325563"/>
          </a:xfrm>
        </p:spPr>
        <p:txBody>
          <a:bodyPr/>
          <a:lstStyle/>
          <a:p>
            <a:r>
              <a:rPr lang="es-ES" dirty="0">
                <a:latin typeface="Franklin Gothic Demi" panose="020B0703020102020204" pitchFamily="34" charset="0"/>
              </a:rPr>
              <a:t>Iterar/Iterable</a:t>
            </a:r>
            <a:endParaRPr lang="es-CL" dirty="0">
              <a:latin typeface="Franklin Gothic Demi" panose="020B07030201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5DA7AF-4CD5-B05B-F1B2-D88F90789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/>
          <a:lstStyle/>
          <a:p>
            <a:r>
              <a:rPr lang="es-ES" dirty="0"/>
              <a:t>Iterar, por ahora, es </a:t>
            </a:r>
            <a:r>
              <a:rPr lang="es-ES" b="1" dirty="0">
                <a:solidFill>
                  <a:srgbClr val="FF2160"/>
                </a:solidFill>
              </a:rPr>
              <a:t>recorrer una EDD</a:t>
            </a:r>
          </a:p>
          <a:p>
            <a:pPr lvl="1"/>
            <a:r>
              <a:rPr lang="es-ES" dirty="0"/>
              <a:t>Ejemplo: Ir elemento a elemento de una lista con un </a:t>
            </a:r>
            <a:r>
              <a:rPr lang="es-ES" dirty="0" err="1"/>
              <a:t>for</a:t>
            </a:r>
            <a:endParaRPr lang="es-ES" dirty="0"/>
          </a:p>
          <a:p>
            <a:r>
              <a:rPr lang="es-ES" dirty="0"/>
              <a:t>Iterable, es </a:t>
            </a:r>
            <a:r>
              <a:rPr lang="es-ES" b="1" dirty="0">
                <a:solidFill>
                  <a:srgbClr val="FF2160"/>
                </a:solidFill>
              </a:rPr>
              <a:t>algo en lo que puedo iterar</a:t>
            </a:r>
            <a:endParaRPr lang="es-CL" b="1" dirty="0">
              <a:solidFill>
                <a:srgbClr val="FF2160"/>
              </a:solidFill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86F248B-6D67-36A5-942D-E6C4DFAE3954}"/>
              </a:ext>
            </a:extLst>
          </p:cNvPr>
          <p:cNvCxnSpPr>
            <a:cxnSpLocks/>
          </p:cNvCxnSpPr>
          <p:nvPr/>
        </p:nvCxnSpPr>
        <p:spPr>
          <a:xfrm>
            <a:off x="78658" y="0"/>
            <a:ext cx="0" cy="6858000"/>
          </a:xfrm>
          <a:prstGeom prst="line">
            <a:avLst/>
          </a:prstGeom>
          <a:ln w="152400" cmpd="sng">
            <a:solidFill>
              <a:srgbClr val="FF2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5787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EDA23-7A36-EFDA-3A94-00317BDD1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FFA1D-B5BB-F688-E6C1-05BD8B641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5564"/>
            <a:ext cx="10515600" cy="1325563"/>
          </a:xfrm>
        </p:spPr>
        <p:txBody>
          <a:bodyPr/>
          <a:lstStyle/>
          <a:p>
            <a:r>
              <a:rPr lang="es-CL" dirty="0">
                <a:latin typeface="Franklin Gothic Demi" panose="020B0703020102020204" pitchFamily="34" charset="0"/>
              </a:rPr>
              <a:t>Secuencial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E36293-5688-5130-2415-D05461A74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30192"/>
            <a:ext cx="4953000" cy="1815882"/>
          </a:xfrm>
        </p:spPr>
        <p:txBody>
          <a:bodyPr>
            <a:normAutofit/>
          </a:bodyPr>
          <a:lstStyle/>
          <a:p>
            <a:r>
              <a:rPr lang="es-CL" dirty="0"/>
              <a:t>Una EDD </a:t>
            </a:r>
            <a:r>
              <a:rPr lang="es-CL" b="1" dirty="0">
                <a:solidFill>
                  <a:srgbClr val="FF2160"/>
                </a:solidFill>
              </a:rPr>
              <a:t>secuencial</a:t>
            </a:r>
            <a:r>
              <a:rPr lang="es-CL" dirty="0"/>
              <a:t> es aquella que tiene un orden que depende de como ingreso los datos a la EDD.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37CA0E10-B9B7-C3D6-C5C2-2E822DC7C9D4}"/>
              </a:ext>
            </a:extLst>
          </p:cNvPr>
          <p:cNvCxnSpPr>
            <a:cxnSpLocks/>
          </p:cNvCxnSpPr>
          <p:nvPr/>
        </p:nvCxnSpPr>
        <p:spPr>
          <a:xfrm>
            <a:off x="78658" y="0"/>
            <a:ext cx="0" cy="6858000"/>
          </a:xfrm>
          <a:prstGeom prst="line">
            <a:avLst/>
          </a:prstGeom>
          <a:ln w="152400" cmpd="sng">
            <a:solidFill>
              <a:srgbClr val="FF2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5C6A95C5-6580-D053-8749-F52A818E037E}"/>
              </a:ext>
            </a:extLst>
          </p:cNvPr>
          <p:cNvSpPr txBox="1"/>
          <p:nvPr/>
        </p:nvSpPr>
        <p:spPr>
          <a:xfrm>
            <a:off x="6096000" y="2717184"/>
            <a:ext cx="495299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En cambio en una EDD </a:t>
            </a:r>
            <a:r>
              <a:rPr lang="es-CL" sz="2800" b="1" dirty="0">
                <a:solidFill>
                  <a:srgbClr val="FF2160"/>
                </a:solidFill>
              </a:rPr>
              <a:t>NO secuencial</a:t>
            </a:r>
            <a:r>
              <a:rPr lang="es-CL" sz="2800" dirty="0"/>
              <a:t>, si yo la recorro los elementos podrían salir en diferente orden cada vez.</a:t>
            </a:r>
          </a:p>
        </p:txBody>
      </p:sp>
    </p:spTree>
    <p:extLst>
      <p:ext uri="{BB962C8B-B14F-4D97-AF65-F5344CB8AC3E}">
        <p14:creationId xmlns:p14="http://schemas.microsoft.com/office/powerpoint/2010/main" val="2862575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51034-6ECC-7C77-134A-0F56FD6AB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149EEC-78A2-C81E-CECF-B07722544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Franklin Gothic Demi" panose="020B0703020102020204" pitchFamily="34" charset="0"/>
              </a:rPr>
              <a:t>Secuencial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4827B9C7-69C3-6829-FF12-F9B668F6468E}"/>
              </a:ext>
            </a:extLst>
          </p:cNvPr>
          <p:cNvCxnSpPr>
            <a:cxnSpLocks/>
          </p:cNvCxnSpPr>
          <p:nvPr/>
        </p:nvCxnSpPr>
        <p:spPr>
          <a:xfrm>
            <a:off x="78658" y="0"/>
            <a:ext cx="0" cy="6858000"/>
          </a:xfrm>
          <a:prstGeom prst="line">
            <a:avLst/>
          </a:prstGeom>
          <a:ln w="152400" cmpd="sng">
            <a:solidFill>
              <a:srgbClr val="FF2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CC8A8C21-3DE1-D174-E253-5FA3C1B2182B}"/>
              </a:ext>
            </a:extLst>
          </p:cNvPr>
          <p:cNvSpPr txBox="1"/>
          <p:nvPr/>
        </p:nvSpPr>
        <p:spPr>
          <a:xfrm>
            <a:off x="838200" y="1773378"/>
            <a:ext cx="10515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Cuando yo recorro una EDD secuencial, </a:t>
            </a:r>
            <a:r>
              <a:rPr lang="es-CL" sz="2800" b="1" dirty="0">
                <a:solidFill>
                  <a:srgbClr val="FF2160"/>
                </a:solidFill>
              </a:rPr>
              <a:t>siempre</a:t>
            </a:r>
            <a:r>
              <a:rPr lang="es-CL" sz="2800" b="1" dirty="0"/>
              <a:t> </a:t>
            </a:r>
            <a:r>
              <a:rPr lang="es-CL" sz="2800" dirty="0"/>
              <a:t>salen los elementos en el mismo orden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Esto también permite que sean </a:t>
            </a:r>
            <a:r>
              <a:rPr lang="es-CL" sz="2800" b="1" dirty="0">
                <a:solidFill>
                  <a:srgbClr val="FF2160"/>
                </a:solidFill>
              </a:rPr>
              <a:t>indexadas</a:t>
            </a:r>
          </a:p>
          <a:p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Ejemplo: Ingreso los siguientes datos en una EDD desconocida: 4, 3, 6, 7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Si fuera </a:t>
            </a:r>
            <a:r>
              <a:rPr lang="es-ES" sz="2800" b="1" dirty="0">
                <a:solidFill>
                  <a:srgbClr val="FF2160"/>
                </a:solidFill>
              </a:rPr>
              <a:t>secuencial</a:t>
            </a:r>
            <a:r>
              <a:rPr lang="es-ES" sz="2800" dirty="0"/>
              <a:t> </a:t>
            </a:r>
            <a:r>
              <a:rPr lang="es-CL" sz="2800" dirty="0"/>
              <a:t>¿</a:t>
            </a:r>
            <a:r>
              <a:rPr lang="es-ES" sz="2800" dirty="0"/>
              <a:t>en qué orden saldrían?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¿Y si fuera </a:t>
            </a:r>
            <a:r>
              <a:rPr lang="es-ES" sz="2800" b="1" dirty="0">
                <a:solidFill>
                  <a:srgbClr val="FF2160"/>
                </a:solidFill>
              </a:rPr>
              <a:t>NO secuencial</a:t>
            </a:r>
            <a:r>
              <a:rPr lang="es-ES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75556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F7E8E-1C9B-804D-1AD2-0F58C1407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5EC39-13CF-A89F-0299-9291B431F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5564"/>
            <a:ext cx="10515600" cy="1325563"/>
          </a:xfrm>
        </p:spPr>
        <p:txBody>
          <a:bodyPr/>
          <a:lstStyle/>
          <a:p>
            <a:r>
              <a:rPr lang="es-US">
                <a:latin typeface="Franklin Gothic Demi" panose="020B0703020102020204" pitchFamily="34" charset="0"/>
              </a:rPr>
              <a:t>Hash</a:t>
            </a:r>
            <a:endParaRPr lang="es-CL">
              <a:latin typeface="Franklin Gothic Demi" panose="020B07030201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5DA7AF-4CD5-B05B-F1B2-D88F90789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/>
          <a:lstStyle/>
          <a:p>
            <a:r>
              <a:rPr lang="es-US"/>
              <a:t>El Hash es un número que se le asigna a un elemento</a:t>
            </a:r>
            <a:endParaRPr lang="es-US" b="1">
              <a:solidFill>
                <a:srgbClr val="FF2160"/>
              </a:solidFill>
            </a:endParaRPr>
          </a:p>
          <a:p>
            <a:r>
              <a:rPr lang="es-US"/>
              <a:t>Depende de las características de lo que “</a:t>
            </a:r>
            <a:r>
              <a:rPr lang="es-US" err="1"/>
              <a:t>hasheo</a:t>
            </a:r>
            <a:r>
              <a:rPr lang="es-US"/>
              <a:t>”</a:t>
            </a:r>
          </a:p>
          <a:p>
            <a:r>
              <a:rPr lang="es-US"/>
              <a:t>Imagínenlo como la </a:t>
            </a:r>
            <a:r>
              <a:rPr lang="es-US" b="1">
                <a:solidFill>
                  <a:srgbClr val="FF2160"/>
                </a:solidFill>
              </a:rPr>
              <a:t>patente de su variable</a:t>
            </a:r>
          </a:p>
          <a:p>
            <a:pPr marL="0" indent="0">
              <a:buNone/>
            </a:pPr>
            <a:endParaRPr lang="es-US"/>
          </a:p>
          <a:p>
            <a:r>
              <a:rPr lang="es-US" b="1"/>
              <a:t>¿Se le podrá asignar un número de hash a algo que puede mutar?</a:t>
            </a:r>
            <a:endParaRPr lang="es-CL" b="1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86F248B-6D67-36A5-942D-E6C4DFAE3954}"/>
              </a:ext>
            </a:extLst>
          </p:cNvPr>
          <p:cNvCxnSpPr>
            <a:cxnSpLocks/>
          </p:cNvCxnSpPr>
          <p:nvPr/>
        </p:nvCxnSpPr>
        <p:spPr>
          <a:xfrm>
            <a:off x="78658" y="0"/>
            <a:ext cx="0" cy="6858000"/>
          </a:xfrm>
          <a:prstGeom prst="line">
            <a:avLst/>
          </a:prstGeom>
          <a:ln w="152400" cmpd="sng">
            <a:solidFill>
              <a:srgbClr val="FF2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1242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051E821-8D6E-3B6D-336D-F8680458B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30ABD4-832C-CF67-BB44-B9850EA4F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5564"/>
            <a:ext cx="10515600" cy="1325563"/>
          </a:xfrm>
        </p:spPr>
        <p:txBody>
          <a:bodyPr/>
          <a:lstStyle/>
          <a:p>
            <a:r>
              <a:rPr lang="es-US" dirty="0">
                <a:latin typeface="Franklin Gothic Demi" panose="020B0703020102020204" pitchFamily="34" charset="0"/>
              </a:rPr>
              <a:t>Tuplas</a:t>
            </a:r>
            <a:endParaRPr lang="es-CL" dirty="0">
              <a:latin typeface="Franklin Gothic Demi" panose="020B07030201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BBDA6E-6A66-4806-EF84-700E74AAB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/>
          <a:lstStyle/>
          <a:p>
            <a:r>
              <a:rPr lang="es-ES" dirty="0"/>
              <a:t>Secuenciales</a:t>
            </a:r>
          </a:p>
          <a:p>
            <a:r>
              <a:rPr lang="es-ES" dirty="0"/>
              <a:t>Inmutables</a:t>
            </a:r>
          </a:p>
          <a:p>
            <a:r>
              <a:rPr lang="es-ES" dirty="0" err="1"/>
              <a:t>Hasheables</a:t>
            </a:r>
            <a:endParaRPr lang="es-ES" dirty="0"/>
          </a:p>
          <a:p>
            <a:endParaRPr lang="es-ES" dirty="0"/>
          </a:p>
          <a:p>
            <a:r>
              <a:rPr lang="es-ES" dirty="0"/>
              <a:t>Imagínenlas como listas a las que no le pueden agregar, quitar ni cambiar elementos</a:t>
            </a:r>
            <a:endParaRPr lang="es-CL" dirty="0"/>
          </a:p>
          <a:p>
            <a:r>
              <a:rPr lang="es-CL" dirty="0"/>
              <a:t>Pero a cambio obtenemos eficiencia!</a:t>
            </a:r>
            <a:endParaRPr lang="es-ES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94230058-9D97-F67B-89AD-69FC47A02DFF}"/>
              </a:ext>
            </a:extLst>
          </p:cNvPr>
          <p:cNvCxnSpPr>
            <a:cxnSpLocks/>
          </p:cNvCxnSpPr>
          <p:nvPr/>
        </p:nvCxnSpPr>
        <p:spPr>
          <a:xfrm>
            <a:off x="78658" y="0"/>
            <a:ext cx="0" cy="6858000"/>
          </a:xfrm>
          <a:prstGeom prst="line">
            <a:avLst/>
          </a:prstGeom>
          <a:ln w="152400" cmpd="sng">
            <a:solidFill>
              <a:srgbClr val="FF2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0352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7D92C0E-04D1-CDE5-5A35-7ECF434EB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173773-D789-2520-4A6D-A77F6DF0F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5564"/>
            <a:ext cx="10515600" cy="1325563"/>
          </a:xfrm>
        </p:spPr>
        <p:txBody>
          <a:bodyPr/>
          <a:lstStyle/>
          <a:p>
            <a:r>
              <a:rPr lang="es-US" dirty="0" err="1">
                <a:latin typeface="Franklin Gothic Demi" panose="020B0703020102020204" pitchFamily="34" charset="0"/>
              </a:rPr>
              <a:t>NamedTuples</a:t>
            </a:r>
            <a:endParaRPr lang="es-CL" dirty="0">
              <a:latin typeface="Franklin Gothic Demi" panose="020B07030201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4EBA80-2AF8-FF5B-33D2-D80C0F65A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/>
          <a:lstStyle/>
          <a:p>
            <a:r>
              <a:rPr lang="es-ES" dirty="0"/>
              <a:t>Secuenciales</a:t>
            </a:r>
          </a:p>
          <a:p>
            <a:r>
              <a:rPr lang="es-ES" dirty="0"/>
              <a:t>Inmutables</a:t>
            </a:r>
          </a:p>
          <a:p>
            <a:r>
              <a:rPr lang="es-ES" dirty="0" err="1"/>
              <a:t>Hasheables</a:t>
            </a:r>
            <a:endParaRPr lang="es-ES" dirty="0"/>
          </a:p>
          <a:p>
            <a:endParaRPr lang="es-ES" dirty="0"/>
          </a:p>
          <a:p>
            <a:r>
              <a:rPr lang="es-ES" dirty="0"/>
              <a:t>Imagínenlas </a:t>
            </a:r>
            <a:r>
              <a:rPr lang="es-CL" dirty="0"/>
              <a:t>como clases sin métodos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BD8F2509-96BE-8B8E-B877-63D209525620}"/>
              </a:ext>
            </a:extLst>
          </p:cNvPr>
          <p:cNvCxnSpPr>
            <a:cxnSpLocks/>
          </p:cNvCxnSpPr>
          <p:nvPr/>
        </p:nvCxnSpPr>
        <p:spPr>
          <a:xfrm>
            <a:off x="78658" y="0"/>
            <a:ext cx="0" cy="6858000"/>
          </a:xfrm>
          <a:prstGeom prst="line">
            <a:avLst/>
          </a:prstGeom>
          <a:ln w="152400" cmpd="sng">
            <a:solidFill>
              <a:srgbClr val="FF2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404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3bc71d6-cc94-40f6-a88d-81200bde348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69574BAB72994AB07E87AA70FAC3E5" ma:contentTypeVersion="14" ma:contentTypeDescription="Create a new document." ma:contentTypeScope="" ma:versionID="253ec1252cd6944ca8de321c171a21ed">
  <xsd:schema xmlns:xsd="http://www.w3.org/2001/XMLSchema" xmlns:xs="http://www.w3.org/2001/XMLSchema" xmlns:p="http://schemas.microsoft.com/office/2006/metadata/properties" xmlns:ns3="13bc71d6-cc94-40f6-a88d-81200bde3488" xmlns:ns4="909c0444-a1d6-4554-a810-dddd8c427782" targetNamespace="http://schemas.microsoft.com/office/2006/metadata/properties" ma:root="true" ma:fieldsID="fb29fcfa41e7ef1752d3ddc7079552e6" ns3:_="" ns4:_="">
    <xsd:import namespace="13bc71d6-cc94-40f6-a88d-81200bde3488"/>
    <xsd:import namespace="909c0444-a1d6-4554-a810-dddd8c42778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bc71d6-cc94-40f6-a88d-81200bde34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9c0444-a1d6-4554-a810-dddd8c427782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130075B-0308-4D2B-94D9-D19B896215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DD47A49-D5E3-4F27-8D88-C3CA6F3FBD6B}">
  <ds:schemaRefs>
    <ds:schemaRef ds:uri="http://schemas.microsoft.com/office/2006/documentManagement/types"/>
    <ds:schemaRef ds:uri="http://purl.org/dc/dcmitype/"/>
    <ds:schemaRef ds:uri="http://purl.org/dc/elements/1.1/"/>
    <ds:schemaRef ds:uri="http://purl.org/dc/terms/"/>
    <ds:schemaRef ds:uri="http://schemas.microsoft.com/office/2006/metadata/properties"/>
    <ds:schemaRef ds:uri="909c0444-a1d6-4554-a810-dddd8c427782"/>
    <ds:schemaRef ds:uri="http://schemas.microsoft.com/office/infopath/2007/PartnerControls"/>
    <ds:schemaRef ds:uri="http://schemas.openxmlformats.org/package/2006/metadata/core-properties"/>
    <ds:schemaRef ds:uri="13bc71d6-cc94-40f6-a88d-81200bde3488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1225E7D-BBE1-4075-8AC5-B1B9DD3E4461}">
  <ds:schemaRefs>
    <ds:schemaRef ds:uri="13bc71d6-cc94-40f6-a88d-81200bde3488"/>
    <ds:schemaRef ds:uri="909c0444-a1d6-4554-a810-dddd8c427782"/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513</Words>
  <Application>Microsoft Office PowerPoint</Application>
  <PresentationFormat>Panorámica</PresentationFormat>
  <Paragraphs>60</Paragraphs>
  <Slides>14</Slides>
  <Notes>0</Notes>
  <HiddenSlides>2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Franklin Gothic Demi</vt:lpstr>
      <vt:lpstr>Tema de Office</vt:lpstr>
      <vt:lpstr>Programación Avanzada: AY02 (EDD)</vt:lpstr>
      <vt:lpstr>¿Qué es una estructura de datos (EDD)?</vt:lpstr>
      <vt:lpstr>Pero a mí qué me importa, yo soy un experto con las listas ¿Por qué quiero más?</vt:lpstr>
      <vt:lpstr>Las listas son, en varios casos, ¡ineficientes!</vt:lpstr>
      <vt:lpstr>Intentémoslo con una lista</vt:lpstr>
      <vt:lpstr>¿Qué problemas puede tener?</vt:lpstr>
      <vt:lpstr>¿Y qué hacemos si nuestras ya preciadas listas funcionan así de mal en ciertos casos? ¡Probemos otras Estructuras de Datos!</vt:lpstr>
      <vt:lpstr>Para cada problema que encontramos en una lista (u otras EDD) tenemos otra estructura que lo soluciona</vt:lpstr>
      <vt:lpstr>Iterar/Iterable</vt:lpstr>
      <vt:lpstr>Secuencial</vt:lpstr>
      <vt:lpstr>Secuencial</vt:lpstr>
      <vt:lpstr>Hash</vt:lpstr>
      <vt:lpstr>Tuplas</vt:lpstr>
      <vt:lpstr>NamedTuples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Avanzada: AY02 (EDD)</dc:title>
  <dc:creator>Josefa Del Pilar Buch Soto</dc:creator>
  <cp:lastModifiedBy>Josefa Del Pilar Buch Soto</cp:lastModifiedBy>
  <cp:revision>2</cp:revision>
  <dcterms:created xsi:type="dcterms:W3CDTF">2026-08-16T23:00:34Z</dcterms:created>
  <dcterms:modified xsi:type="dcterms:W3CDTF">2026-08-18T15:15:46Z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0x010100C669574BAB72994AB07E87AA70FAC3E5</vt:lpwstr>
  </property>
</Properties>
</file>