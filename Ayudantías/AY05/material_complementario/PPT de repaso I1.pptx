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 /><Relationship Id="rId13" Type="http://schemas.openxmlformats.org/officeDocument/2006/relationships/slide" Target="slides/slide9.xml" /><Relationship Id="rId18" Type="http://schemas.openxmlformats.org/officeDocument/2006/relationships/slide" Target="slides/slide14.xml" /><Relationship Id="rId3" Type="http://schemas.openxmlformats.org/officeDocument/2006/relationships/customXml" Target="../customXml/item3.xml" /><Relationship Id="rId21" Type="http://schemas.openxmlformats.org/officeDocument/2006/relationships/presProps" Target="presProps.xml" /><Relationship Id="rId7" Type="http://schemas.openxmlformats.org/officeDocument/2006/relationships/slide" Target="slides/slide3.xml" /><Relationship Id="rId12" Type="http://schemas.openxmlformats.org/officeDocument/2006/relationships/slide" Target="slides/slide8.xml" /><Relationship Id="rId17" Type="http://schemas.openxmlformats.org/officeDocument/2006/relationships/slide" Target="slides/slide13.xml" /><Relationship Id="rId2" Type="http://schemas.openxmlformats.org/officeDocument/2006/relationships/customXml" Target="../customXml/item2.xml" /><Relationship Id="rId16" Type="http://schemas.openxmlformats.org/officeDocument/2006/relationships/slide" Target="slides/slide12.xml" /><Relationship Id="rId20" Type="http://schemas.openxmlformats.org/officeDocument/2006/relationships/notesMaster" Target="notesMasters/notesMaster1.xml" /><Relationship Id="rId1" Type="http://schemas.openxmlformats.org/officeDocument/2006/relationships/customXml" Target="../customXml/item1.xml" /><Relationship Id="rId6" Type="http://schemas.openxmlformats.org/officeDocument/2006/relationships/slide" Target="slides/slide2.xml" /><Relationship Id="rId11" Type="http://schemas.openxmlformats.org/officeDocument/2006/relationships/slide" Target="slides/slide7.xml" /><Relationship Id="rId24" Type="http://schemas.openxmlformats.org/officeDocument/2006/relationships/tableStyles" Target="tableStyles.xml" /><Relationship Id="rId5" Type="http://schemas.openxmlformats.org/officeDocument/2006/relationships/slide" Target="slides/slide1.xml" /><Relationship Id="rId15" Type="http://schemas.openxmlformats.org/officeDocument/2006/relationships/slide" Target="slides/slide11.xml" /><Relationship Id="rId23" Type="http://schemas.openxmlformats.org/officeDocument/2006/relationships/theme" Target="theme/theme1.xml" /><Relationship Id="rId10" Type="http://schemas.openxmlformats.org/officeDocument/2006/relationships/slide" Target="slides/slide6.xml" /><Relationship Id="rId19" Type="http://schemas.openxmlformats.org/officeDocument/2006/relationships/slide" Target="slides/slide15.xml" /><Relationship Id="rId4" Type="http://schemas.openxmlformats.org/officeDocument/2006/relationships/slideMaster" Target="slideMasters/slideMaster1.xml" /><Relationship Id="rId9" Type="http://schemas.openxmlformats.org/officeDocument/2006/relationships/slide" Target="slides/slide5.xml" /><Relationship Id="rId14" Type="http://schemas.openxmlformats.org/officeDocument/2006/relationships/slide" Target="slides/slide10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FE78C-DBF2-41F0-8755-1FB1A82313AA}" type="datetimeFigureOut">
              <a:rPr lang="es-CL" smtClean="0"/>
              <a:t>08-09-2026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8F79A-91C2-455C-A3AB-640E0CF348B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069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8F79A-91C2-455C-A3AB-640E0CF348B0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65067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 /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 /><Relationship Id="rId7" Type="http://schemas.openxmlformats.org/officeDocument/2006/relationships/image" Target="../media/image14.png" /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3.png" /><Relationship Id="rId5" Type="http://schemas.openxmlformats.org/officeDocument/2006/relationships/image" Target="../media/image12.png" /><Relationship Id="rId4" Type="http://schemas.openxmlformats.org/officeDocument/2006/relationships/image" Target="../media/image11.png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7" Type="http://schemas.openxmlformats.org/officeDocument/2006/relationships/image" Target="../media/image20.png" /><Relationship Id="rId2" Type="http://schemas.openxmlformats.org/officeDocument/2006/relationships/image" Target="../media/image15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9.png" /><Relationship Id="rId5" Type="http://schemas.openxmlformats.org/officeDocument/2006/relationships/image" Target="../media/image18.png" /><Relationship Id="rId4" Type="http://schemas.openxmlformats.org/officeDocument/2006/relationships/image" Target="../media/image17.png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0482" y="1519037"/>
            <a:ext cx="8251031" cy="16966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lang="es-CL" sz="6000" b="1" i="0" u="none" noProof="0" dirty="0">
                <a:solidFill>
                  <a:srgbClr val="BE185D"/>
                </a:solidFill>
                <a:latin typeface="Poppins"/>
              </a:rPr>
              <a:t>AY05: Repaso Prueba I1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6934" y="3215655"/>
            <a:ext cx="7858125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s-US" sz="2400" b="0" i="0" u="none" noProof="0" dirty="0">
                <a:solidFill>
                  <a:srgbClr val="475569"/>
                </a:solidFill>
                <a:latin typeface="Poppins"/>
              </a:rPr>
              <a:t>Equipo docente:)&lt;3</a:t>
            </a:r>
            <a:endParaRPr lang="es-CL" sz="2400" b="0" i="0" u="none" noProof="0" dirty="0">
              <a:solidFill>
                <a:srgbClr val="475569"/>
              </a:solidFill>
              <a:latin typeface="Poppins"/>
            </a:endParaRPr>
          </a:p>
        </p:txBody>
      </p:sp>
      <p:pic>
        <p:nvPicPr>
          <p:cNvPr id="4" name="Imagen 3" descr="Imagen de Wisin &amp; Yandel | Spotify">
            <a:extLst>
              <a:ext uri="{FF2B5EF4-FFF2-40B4-BE49-F238E27FC236}">
                <a16:creationId xmlns:a16="http://schemas.microsoft.com/office/drawing/2014/main" id="{636C816F-CDC0-F4E1-8040-20141E8A4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72" y="3898369"/>
            <a:ext cx="3854052" cy="2672142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CF99C43-2CAF-7A36-C8B8-E9B81EBF3FA1}"/>
              </a:ext>
            </a:extLst>
          </p:cNvPr>
          <p:cNvSpPr/>
          <p:nvPr/>
        </p:nvSpPr>
        <p:spPr>
          <a:xfrm rot="5400000" flipV="1">
            <a:off x="-3230339" y="3386768"/>
            <a:ext cx="6926828" cy="84464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2376487"/>
            <a:ext cx="1143000" cy="7620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845468" y="2833687"/>
            <a:ext cx="8501062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5250" b="1" i="0" u="none" noProof="0" dirty="0">
                <a:solidFill>
                  <a:srgbClr val="BE185D"/>
                </a:solidFill>
                <a:latin typeface="Poppins"/>
              </a:rPr>
              <a:t>Entorno y Herramientas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4050" y="4081462"/>
            <a:ext cx="8343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s-CL" sz="2250" b="0" i="0" u="none" noProof="0" dirty="0">
                <a:solidFill>
                  <a:srgbClr val="475569"/>
                </a:solidFill>
                <a:latin typeface="Poppins"/>
              </a:rPr>
              <a:t>Dominando los </a:t>
            </a:r>
            <a:r>
              <a:rPr lang="es-CL" sz="2250" b="0" i="0" u="none" noProof="0" dirty="0" err="1">
                <a:solidFill>
                  <a:srgbClr val="475569"/>
                </a:solidFill>
                <a:latin typeface="Poppins"/>
              </a:rPr>
              <a:t>Paths</a:t>
            </a:r>
            <a:r>
              <a:rPr lang="es-CL" sz="2250" b="0" i="0" u="none" noProof="0" dirty="0">
                <a:solidFill>
                  <a:srgbClr val="475569"/>
                </a:solidFill>
                <a:latin typeface="Poppins"/>
              </a:rPr>
              <a:t>, la Terminal y el Control de Versiones.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571500"/>
            <a:ext cx="5500687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900" b="0" i="0" u="none" noProof="0" dirty="0" err="1">
                <a:solidFill>
                  <a:srgbClr val="BE185D"/>
                </a:solidFill>
                <a:latin typeface="Poppins SemiBold"/>
              </a:rPr>
              <a:t>Paths</a:t>
            </a:r>
            <a:r>
              <a:rPr lang="es-CL" sz="3900" b="0" i="0" u="none" noProof="0" dirty="0">
                <a:solidFill>
                  <a:srgbClr val="BE185D"/>
                </a:solidFill>
                <a:latin typeface="Poppins SemiBold"/>
              </a:rPr>
              <a:t> (Rutas)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00200"/>
            <a:ext cx="52387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s-CL" sz="1950" b="0" i="0" u="none" noProof="0" dirty="0">
                <a:solidFill>
                  <a:srgbClr val="334155"/>
                </a:solidFill>
                <a:latin typeface="Poppins"/>
              </a:rPr>
              <a:t>Un </a:t>
            </a:r>
            <a:r>
              <a:rPr lang="es-CL" sz="1950" b="1" i="0" u="none" noProof="0" dirty="0">
                <a:solidFill>
                  <a:srgbClr val="BE185D"/>
                </a:solidFill>
                <a:latin typeface="Poppins"/>
              </a:rPr>
              <a:t>Path</a:t>
            </a:r>
            <a:r>
              <a:rPr lang="es-CL" sz="1950" b="0" i="0" u="none" noProof="0" dirty="0">
                <a:solidFill>
                  <a:srgbClr val="334155"/>
                </a:solidFill>
                <a:latin typeface="Poppins"/>
              </a:rPr>
              <a:t> es la dirección exacta donde vive un archivo o carpeta en tu computador.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581275"/>
            <a:ext cx="5238750" cy="148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s-CL" sz="1950" b="1" i="0" u="none" noProof="0" dirty="0">
                <a:solidFill>
                  <a:srgbClr val="BE185D"/>
                </a:solidFill>
                <a:latin typeface="Poppins"/>
              </a:rPr>
              <a:t>Rutas Absolutas:</a:t>
            </a:r>
            <a:r>
              <a:rPr lang="es-CL" sz="1950" b="0" i="0" u="none" noProof="0" dirty="0">
                <a:solidFill>
                  <a:srgbClr val="334155"/>
                </a:solidFill>
                <a:latin typeface="Poppins"/>
              </a:rPr>
              <a:t> Empiezan desde la raíz principal del disco duro (ej. /Usuarios/Tú/</a:t>
            </a:r>
            <a:r>
              <a:rPr lang="es-CL" sz="1950" b="0" i="0" u="none" noProof="0" dirty="0" err="1">
                <a:solidFill>
                  <a:srgbClr val="334155"/>
                </a:solidFill>
                <a:latin typeface="Poppins"/>
              </a:rPr>
              <a:t>Docs</a:t>
            </a:r>
            <a:r>
              <a:rPr lang="es-CL" sz="1950" b="0" i="0" u="none" noProof="0" dirty="0">
                <a:solidFill>
                  <a:srgbClr val="334155"/>
                </a:solidFill>
                <a:latin typeface="Poppins"/>
              </a:rPr>
              <a:t>). ¡Son precisas y nunca fallan!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305300"/>
            <a:ext cx="5238750" cy="1857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s-CL" sz="1950" b="1" i="0" u="none" noProof="0" dirty="0">
                <a:solidFill>
                  <a:srgbClr val="BE185D"/>
                </a:solidFill>
                <a:latin typeface="Poppins"/>
              </a:rPr>
              <a:t>Rutas Relativas:</a:t>
            </a:r>
            <a:r>
              <a:rPr lang="es-CL" sz="1950" b="0" i="0" u="none" noProof="0" dirty="0">
                <a:solidFill>
                  <a:srgbClr val="334155"/>
                </a:solidFill>
                <a:latin typeface="Poppins"/>
              </a:rPr>
              <a:t> Se basan en dónde estás ubicado </a:t>
            </a:r>
            <a:r>
              <a:rPr lang="es-CL" sz="1950" b="1" i="0" u="none" noProof="0" dirty="0">
                <a:solidFill>
                  <a:srgbClr val="BE185D"/>
                </a:solidFill>
                <a:latin typeface="Poppins"/>
              </a:rPr>
              <a:t>ahora mismo</a:t>
            </a:r>
            <a:r>
              <a:rPr lang="es-CL" sz="1950" b="0" i="0" u="none" noProof="0" dirty="0">
                <a:solidFill>
                  <a:srgbClr val="334155"/>
                </a:solidFill>
                <a:latin typeface="Poppins"/>
              </a:rPr>
              <a:t> en la terminal. Si ya estás en la carpeta </a:t>
            </a:r>
            <a:r>
              <a:rPr lang="es-CL" sz="1950" b="0" i="0" u="none" noProof="0" dirty="0" err="1">
                <a:solidFill>
                  <a:srgbClr val="334155"/>
                </a:solidFill>
                <a:latin typeface="Poppins"/>
              </a:rPr>
              <a:t>Docs</a:t>
            </a:r>
            <a:r>
              <a:rPr lang="es-CL" sz="1950" b="0" i="0" u="none" noProof="0" dirty="0">
                <a:solidFill>
                  <a:srgbClr val="334155"/>
                </a:solidFill>
                <a:latin typeface="Poppins"/>
              </a:rPr>
              <a:t>, la ruta relativa es simplemente el nombre del archivo (ej. tarea.py).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629878"/>
            <a:ext cx="11049000" cy="6096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880454"/>
              </p:ext>
            </p:extLst>
          </p:nvPr>
        </p:nvGraphicFramePr>
        <p:xfrm>
          <a:off x="590550" y="648928"/>
          <a:ext cx="11010900" cy="6057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8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s-CL" sz="1800" b="1" i="0" u="none" noProof="0" dirty="0">
                          <a:solidFill>
                            <a:srgbClr val="BE185D"/>
                          </a:solidFill>
                          <a:latin typeface="Poppins"/>
                        </a:rPr>
                        <a:t>Comando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7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800" b="1" i="0" u="none" noProof="0" dirty="0">
                          <a:solidFill>
                            <a:srgbClr val="BE185D"/>
                          </a:solidFill>
                          <a:latin typeface="Poppins"/>
                        </a:rPr>
                        <a:t>¿Qué hace?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7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 err="1">
                          <a:solidFill>
                            <a:srgbClr val="334155"/>
                          </a:solidFill>
                          <a:latin typeface="Poppins"/>
                        </a:rPr>
                        <a:t>pwd</a:t>
                      </a:r>
                      <a:endParaRPr lang="es-CL" sz="1650" b="0" i="0" u="none" noProof="0" dirty="0">
                        <a:solidFill>
                          <a:srgbClr val="334155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Te muestra la ruta absoluta de la carpeta en la que estás actualmente.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 err="1">
                          <a:solidFill>
                            <a:srgbClr val="334155"/>
                          </a:solidFill>
                          <a:latin typeface="Poppins"/>
                        </a:rPr>
                        <a:t>ls</a:t>
                      </a:r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 o </a:t>
                      </a:r>
                      <a:r>
                        <a:rPr lang="es-CL" sz="1650" b="0" i="0" u="none" noProof="0" dirty="0" err="1">
                          <a:solidFill>
                            <a:srgbClr val="334155"/>
                          </a:solidFill>
                          <a:latin typeface="Poppins"/>
                        </a:rPr>
                        <a:t>dir</a:t>
                      </a:r>
                      <a:endParaRPr lang="es-CL" sz="1650" b="0" i="0" u="none" noProof="0" dirty="0">
                        <a:solidFill>
                          <a:srgbClr val="334155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Lista todos los archivos y carpetas que hay donde estás parado.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cd [carpeta]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Cambia de directorio (entras a la carpeta que le indiques). cd .. te saca de la carpeta.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 err="1">
                          <a:solidFill>
                            <a:srgbClr val="334155"/>
                          </a:solidFill>
                          <a:latin typeface="Poppins"/>
                        </a:rPr>
                        <a:t>mkdir</a:t>
                      </a:r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 [nombre]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Crea una carpeta nueva completamente vacía.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 err="1">
                          <a:solidFill>
                            <a:srgbClr val="334155"/>
                          </a:solidFill>
                          <a:latin typeface="Poppins"/>
                        </a:rPr>
                        <a:t>rm</a:t>
                      </a:r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 [archivo]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Borra el archivo indicado (¡Cuidado, no pasa por la papelera!).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 err="1">
                          <a:solidFill>
                            <a:srgbClr val="334155"/>
                          </a:solidFill>
                          <a:latin typeface="Poppins"/>
                        </a:rPr>
                        <a:t>cp</a:t>
                      </a:r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 [ori] [des]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Copia un archivo desde el origen (ori) hasta la nueva ruta destino (des).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 err="1">
                          <a:solidFill>
                            <a:srgbClr val="334155"/>
                          </a:solidFill>
                          <a:latin typeface="Poppins"/>
                        </a:rPr>
                        <a:t>mv</a:t>
                      </a:r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 [ori] [des]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Mueve un archivo. También se usa para </a:t>
                      </a:r>
                      <a:r>
                        <a:rPr lang="es-CL" sz="1650" b="1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renombrar</a:t>
                      </a:r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 archivos.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 err="1">
                          <a:solidFill>
                            <a:srgbClr val="334155"/>
                          </a:solidFill>
                          <a:latin typeface="Poppins"/>
                        </a:rPr>
                        <a:t>clear</a:t>
                      </a:r>
                      <a:endParaRPr lang="es-CL" sz="1650" b="0" i="0" u="none" noProof="0" dirty="0">
                        <a:solidFill>
                          <a:srgbClr val="334155"/>
                        </a:solidFill>
                        <a:latin typeface="Poppi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650" b="0" i="0" u="none" noProof="0" dirty="0">
                          <a:solidFill>
                            <a:srgbClr val="334155"/>
                          </a:solidFill>
                          <a:latin typeface="Poppins"/>
                        </a:rPr>
                        <a:t>Limpia todo el texto de la pantalla de la terminal.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angle 3"/>
          <p:cNvSpPr>
            <a:spLocks/>
          </p:cNvSpPr>
          <p:nvPr/>
        </p:nvSpPr>
        <p:spPr>
          <a:xfrm>
            <a:off x="590550" y="1277578"/>
            <a:ext cx="275272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Rectangle 4"/>
          <p:cNvSpPr>
            <a:spLocks/>
          </p:cNvSpPr>
          <p:nvPr/>
        </p:nvSpPr>
        <p:spPr>
          <a:xfrm>
            <a:off x="3343275" y="1277578"/>
            <a:ext cx="825817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6" name="Rectangle 5"/>
          <p:cNvSpPr>
            <a:spLocks/>
          </p:cNvSpPr>
          <p:nvPr/>
        </p:nvSpPr>
        <p:spPr>
          <a:xfrm>
            <a:off x="590550" y="1915753"/>
            <a:ext cx="275272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Rectangle 6"/>
          <p:cNvSpPr>
            <a:spLocks/>
          </p:cNvSpPr>
          <p:nvPr/>
        </p:nvSpPr>
        <p:spPr>
          <a:xfrm>
            <a:off x="3343275" y="1915753"/>
            <a:ext cx="825817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ectangle 7"/>
          <p:cNvSpPr>
            <a:spLocks/>
          </p:cNvSpPr>
          <p:nvPr/>
        </p:nvSpPr>
        <p:spPr>
          <a:xfrm>
            <a:off x="590550" y="2553928"/>
            <a:ext cx="275272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Rectangle 8"/>
          <p:cNvSpPr>
            <a:spLocks/>
          </p:cNvSpPr>
          <p:nvPr/>
        </p:nvSpPr>
        <p:spPr>
          <a:xfrm>
            <a:off x="3343275" y="2553928"/>
            <a:ext cx="825817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ectangle 9"/>
          <p:cNvSpPr>
            <a:spLocks/>
          </p:cNvSpPr>
          <p:nvPr/>
        </p:nvSpPr>
        <p:spPr>
          <a:xfrm>
            <a:off x="590550" y="3506428"/>
            <a:ext cx="275272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3343275" y="3506428"/>
            <a:ext cx="825817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Rectangle 11"/>
          <p:cNvSpPr>
            <a:spLocks/>
          </p:cNvSpPr>
          <p:nvPr/>
        </p:nvSpPr>
        <p:spPr>
          <a:xfrm>
            <a:off x="590550" y="4144603"/>
            <a:ext cx="275272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ectangle 12"/>
          <p:cNvSpPr>
            <a:spLocks/>
          </p:cNvSpPr>
          <p:nvPr/>
        </p:nvSpPr>
        <p:spPr>
          <a:xfrm>
            <a:off x="3343275" y="4144603"/>
            <a:ext cx="825817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ectangle 13"/>
          <p:cNvSpPr>
            <a:spLocks/>
          </p:cNvSpPr>
          <p:nvPr/>
        </p:nvSpPr>
        <p:spPr>
          <a:xfrm>
            <a:off x="590550" y="4782778"/>
            <a:ext cx="275272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Rectangle 14"/>
          <p:cNvSpPr>
            <a:spLocks/>
          </p:cNvSpPr>
          <p:nvPr/>
        </p:nvSpPr>
        <p:spPr>
          <a:xfrm>
            <a:off x="3343275" y="4782778"/>
            <a:ext cx="825817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ectangle 15"/>
          <p:cNvSpPr>
            <a:spLocks/>
          </p:cNvSpPr>
          <p:nvPr/>
        </p:nvSpPr>
        <p:spPr>
          <a:xfrm>
            <a:off x="590550" y="5420953"/>
            <a:ext cx="275272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3343275" y="5420953"/>
            <a:ext cx="825817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Rectangle 17"/>
          <p:cNvSpPr>
            <a:spLocks/>
          </p:cNvSpPr>
          <p:nvPr/>
        </p:nvSpPr>
        <p:spPr>
          <a:xfrm>
            <a:off x="590550" y="6059128"/>
            <a:ext cx="275272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ectangle 18"/>
          <p:cNvSpPr>
            <a:spLocks/>
          </p:cNvSpPr>
          <p:nvPr/>
        </p:nvSpPr>
        <p:spPr>
          <a:xfrm>
            <a:off x="3343275" y="6059128"/>
            <a:ext cx="8258175" cy="190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590550" y="67903"/>
            <a:ext cx="116014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900" b="0" i="0" u="none" noProof="0" dirty="0">
                <a:solidFill>
                  <a:srgbClr val="BE185D"/>
                </a:solidFill>
                <a:latin typeface="Poppins SemiBold"/>
              </a:rPr>
              <a:t>Comandos de Terminal Esenciales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13619"/>
            <a:ext cx="11049000" cy="9257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956494"/>
            <a:ext cx="104203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💡 Tip de oro: Usa "</a:t>
            </a:r>
            <a:r>
              <a:rPr lang="es-CL" sz="1800" b="0" i="0" u="none" noProof="0" dirty="0" err="1">
                <a:solidFill>
                  <a:srgbClr val="BE185D"/>
                </a:solidFill>
                <a:latin typeface="Poppins SemiBold"/>
              </a:rPr>
              <a:t>git</a:t>
            </a: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 status" constantemente para ver qué archivos cambiaste y en qué paso vas.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615755"/>
            <a:ext cx="11049000" cy="571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10733" y="3025080"/>
            <a:ext cx="25521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950" b="0" i="0" u="none" noProof="0" dirty="0">
                <a:solidFill>
                  <a:srgbClr val="BE185D"/>
                </a:solidFill>
                <a:latin typeface="Poppins SemiBold"/>
              </a:rPr>
              <a:t>1. clone / </a:t>
            </a:r>
            <a:r>
              <a:rPr lang="es-CL" sz="1950" b="0" i="0" u="none" noProof="0" dirty="0" err="1">
                <a:solidFill>
                  <a:srgbClr val="BE185D"/>
                </a:solidFill>
                <a:latin typeface="Poppins SemiBold"/>
              </a:rPr>
              <a:t>pull</a:t>
            </a:r>
            <a:endParaRPr lang="es-CL" sz="1950" b="0" i="0" u="none" noProof="0" dirty="0">
              <a:solidFill>
                <a:srgbClr val="BE185D"/>
              </a:solidFill>
              <a:latin typeface="Poppi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3472755"/>
            <a:ext cx="243066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s-CL" sz="1500" b="0" i="0" u="none" noProof="0" dirty="0">
                <a:solidFill>
                  <a:srgbClr val="334155"/>
                </a:solidFill>
                <a:latin typeface="Poppins"/>
              </a:rPr>
              <a:t>Trae o actualiza el código desde la nube (GitHub) a tu PC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413" y="4882455"/>
            <a:ext cx="25521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950" b="0" i="0" u="none" noProof="0" dirty="0">
                <a:solidFill>
                  <a:srgbClr val="BE185D"/>
                </a:solidFill>
                <a:latin typeface="Poppins SemiBold"/>
              </a:rPr>
              <a:t>2. </a:t>
            </a:r>
            <a:r>
              <a:rPr lang="es-CL" sz="1950" b="0" i="0" u="none" noProof="0" dirty="0" err="1">
                <a:solidFill>
                  <a:srgbClr val="BE185D"/>
                </a:solidFill>
                <a:latin typeface="Poppins SemiBold"/>
              </a:rPr>
              <a:t>add</a:t>
            </a:r>
            <a:endParaRPr lang="es-CL" sz="1950" b="0" i="0" u="none" noProof="0" dirty="0">
              <a:solidFill>
                <a:srgbClr val="BE185D"/>
              </a:solidFill>
              <a:latin typeface="Poppi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44180" y="5330130"/>
            <a:ext cx="243066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s-CL" sz="1500" b="0" i="0" u="none" noProof="0" dirty="0">
                <a:solidFill>
                  <a:srgbClr val="334155"/>
                </a:solidFill>
                <a:latin typeface="Poppins"/>
              </a:rPr>
              <a:t>Selecciona y "prepara" los archivos modificados que vas a querer guardar.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6094" y="2777430"/>
            <a:ext cx="25521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950" b="0" i="0" u="none" noProof="0" dirty="0">
                <a:solidFill>
                  <a:srgbClr val="BE185D"/>
                </a:solidFill>
                <a:latin typeface="Poppins SemiBold"/>
              </a:rPr>
              <a:t>3. </a:t>
            </a:r>
            <a:r>
              <a:rPr lang="es-CL" sz="1950" b="0" i="0" u="none" noProof="0" dirty="0" err="1">
                <a:solidFill>
                  <a:srgbClr val="BE185D"/>
                </a:solidFill>
                <a:latin typeface="Poppins SemiBold"/>
              </a:rPr>
              <a:t>commit</a:t>
            </a:r>
            <a:endParaRPr lang="es-CL" sz="1950" b="0" i="0" u="none" noProof="0" dirty="0">
              <a:solidFill>
                <a:srgbClr val="BE185D"/>
              </a:solidFill>
              <a:latin typeface="Poppi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16860" y="3225105"/>
            <a:ext cx="243066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s-CL" sz="1500" b="0" i="0" u="none" noProof="0" dirty="0">
                <a:solidFill>
                  <a:srgbClr val="334155"/>
                </a:solidFill>
                <a:latin typeface="Poppins"/>
              </a:rPr>
              <a:t>Crea un "punto de guardado" oficial con un mensaje corto explicando tus cambios.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8774" y="4882455"/>
            <a:ext cx="25521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950" b="0" i="0" u="none" noProof="0" dirty="0">
                <a:solidFill>
                  <a:srgbClr val="BE185D"/>
                </a:solidFill>
                <a:latin typeface="Poppins SemiBold"/>
              </a:rPr>
              <a:t>4. </a:t>
            </a:r>
            <a:r>
              <a:rPr lang="es-CL" sz="1950" b="0" i="0" u="none" noProof="0" dirty="0" err="1">
                <a:solidFill>
                  <a:srgbClr val="BE185D"/>
                </a:solidFill>
                <a:latin typeface="Poppins SemiBold"/>
              </a:rPr>
              <a:t>push</a:t>
            </a:r>
            <a:endParaRPr lang="es-CL" sz="1950" b="0" i="0" u="none" noProof="0" dirty="0">
              <a:solidFill>
                <a:srgbClr val="BE185D"/>
              </a:solidFill>
              <a:latin typeface="Poppins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89541" y="5330130"/>
            <a:ext cx="243066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s-CL" sz="1500" b="0" i="0" u="none" noProof="0" dirty="0">
                <a:solidFill>
                  <a:srgbClr val="334155"/>
                </a:solidFill>
                <a:latin typeface="Poppins"/>
              </a:rPr>
              <a:t>Sube todos tus nuevos puntos de guardado a la nube para que no se pierdan.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900" b="0" i="0" u="none" noProof="0" dirty="0">
                <a:solidFill>
                  <a:srgbClr val="BE185D"/>
                </a:solidFill>
                <a:latin typeface="Poppins SemiBold"/>
              </a:rPr>
              <a:t>Flujo Lineal de Git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72530" y="453003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Rounded Rectangle 14"/>
          <p:cNvSpPr/>
          <p:nvPr/>
        </p:nvSpPr>
        <p:spPr>
          <a:xfrm>
            <a:off x="4545210" y="453003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7417891" y="453003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Rounded Rectangle 16"/>
          <p:cNvSpPr/>
          <p:nvPr/>
        </p:nvSpPr>
        <p:spPr>
          <a:xfrm>
            <a:off x="10290571" y="453003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2376487"/>
            <a:ext cx="1143000" cy="7620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2385536" y="2833687"/>
            <a:ext cx="7420927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5250" b="1" i="0" u="none" noProof="0" dirty="0">
                <a:solidFill>
                  <a:srgbClr val="BE185D"/>
                </a:solidFill>
                <a:latin typeface="Poppins"/>
              </a:rPr>
              <a:t>Estructuras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4550" y="4081462"/>
            <a:ext cx="79629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s-CL" sz="2250" b="0" i="0" u="none" noProof="0" dirty="0">
                <a:solidFill>
                  <a:srgbClr val="475569"/>
                </a:solidFill>
                <a:latin typeface="Poppins"/>
              </a:rPr>
              <a:t>Organización inteligente para manipular la información.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632942"/>
            <a:ext cx="5238750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631037"/>
            <a:ext cx="95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632942"/>
            <a:ext cx="4953000" cy="95994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Inmutables: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Una vez creadas, no puedes cambiar, añadir ni borrar sus elementos. Son cajas fuertes.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81478"/>
            <a:ext cx="95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783383"/>
            <a:ext cx="4953000" cy="64948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Secuenciales: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Mantienen un orden estricto (puedes usar índices como [0]).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621464"/>
            <a:ext cx="95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623369"/>
            <a:ext cx="4953000" cy="6399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Heterogéneas: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Pueden guardar distintos tipos de datos (números, textos) juntos.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51925"/>
            <a:ext cx="95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453830"/>
            <a:ext cx="4953000" cy="160942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 err="1">
                <a:solidFill>
                  <a:srgbClr val="BE185D"/>
                </a:solidFill>
                <a:latin typeface="Poppins SemiBold"/>
              </a:rPr>
              <a:t>NamedTuples</a:t>
            </a: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: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Funcionan igual, pero te permiten acceder a los datos usando </a:t>
            </a:r>
            <a:r>
              <a:rPr lang="es-CL" sz="1800" b="1" i="0" u="none" noProof="0" dirty="0">
                <a:solidFill>
                  <a:srgbClr val="BE185D"/>
                </a:solidFill>
                <a:latin typeface="Poppins"/>
              </a:rPr>
              <a:t>nombres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en vez de números, haciendo el código súper fácil de leer (ej. 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mascota.edad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850" y="1671042"/>
            <a:ext cx="5162550" cy="3733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900" b="0" i="0" u="none" noProof="0" dirty="0">
                <a:solidFill>
                  <a:srgbClr val="BE185D"/>
                </a:solidFill>
                <a:latin typeface="Poppins SemiBold"/>
              </a:rPr>
              <a:t>Tuplas y </a:t>
            </a:r>
            <a:r>
              <a:rPr lang="es-CL" sz="3900" b="0" i="0" u="none" noProof="0" dirty="0" err="1">
                <a:solidFill>
                  <a:srgbClr val="BE185D"/>
                </a:solidFill>
                <a:latin typeface="Poppins SemiBold"/>
              </a:rPr>
              <a:t>NamedTuples</a:t>
            </a:r>
            <a:endParaRPr lang="es-CL" sz="3900" b="0" i="0" u="none" noProof="0" dirty="0">
              <a:solidFill>
                <a:srgbClr val="BE185D"/>
              </a:solidFill>
              <a:latin typeface="Poppi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548110"/>
            <a:ext cx="5238750" cy="479047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548110"/>
            <a:ext cx="5238750" cy="4790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50" y="1948160"/>
            <a:ext cx="466058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0" i="0" u="none" noProof="0" dirty="0">
                <a:solidFill>
                  <a:srgbClr val="BE185D"/>
                </a:solidFill>
                <a:latin typeface="Poppins SemiBold"/>
              </a:rPr>
              <a:t>Stacks (Pilas)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2548235"/>
            <a:ext cx="4438650" cy="3199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LIFO (Último en entrar, primero en salir):</a:t>
            </a:r>
            <a:r>
              <a:rPr lang="es-CL" noProof="0" dirty="0"/>
              <a:t>
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Imagina una pila de platos. Siempre lavas el último plato que pusieron encima de la torre. </a:t>
            </a:r>
            <a:r>
              <a:rPr lang="es-CL" noProof="0" dirty="0"/>
              <a:t>
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En Python, usamos una lista normal. Agregamos con 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append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() y quitamos con pop().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1800" y="1948160"/>
            <a:ext cx="466058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0" i="0" u="none" noProof="0" dirty="0" err="1">
                <a:solidFill>
                  <a:srgbClr val="BE185D"/>
                </a:solidFill>
                <a:latin typeface="Poppins SemiBold"/>
              </a:rPr>
              <a:t>Queues</a:t>
            </a:r>
            <a:r>
              <a:rPr lang="es-CL" sz="2400" b="0" i="0" u="none" noProof="0" dirty="0">
                <a:solidFill>
                  <a:srgbClr val="BE185D"/>
                </a:solidFill>
                <a:latin typeface="Poppins SemiBold"/>
              </a:rPr>
              <a:t> (Colas)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1800" y="2548235"/>
            <a:ext cx="4438650" cy="2879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FIFO (Primero en entrar, primero en salir):</a:t>
            </a:r>
            <a:r>
              <a:rPr lang="es-CL" noProof="0" dirty="0"/>
              <a:t>
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Imagina la fila del banco. El primero en llegar es el primero en ser atendido. </a:t>
            </a:r>
            <a:r>
              <a:rPr lang="es-CL" noProof="0" dirty="0"/>
              <a:t>
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En Python usamos 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deque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. Agregamos al final con 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append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() y sacamos el primero con 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popleft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().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19410"/>
            <a:ext cx="116014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900" b="0" i="0" u="none" noProof="0" dirty="0">
                <a:solidFill>
                  <a:srgbClr val="BE185D"/>
                </a:solidFill>
                <a:latin typeface="Poppins SemiBold"/>
              </a:rPr>
              <a:t>El Orden de Atención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16434"/>
            <a:ext cx="3492549" cy="445368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716434"/>
            <a:ext cx="3492549" cy="445368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716434"/>
            <a:ext cx="3492549" cy="44536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92572" y="3021359"/>
            <a:ext cx="20502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2400" b="0" i="0" u="none" noProof="0" dirty="0">
                <a:solidFill>
                  <a:srgbClr val="BE185D"/>
                </a:solidFill>
                <a:latin typeface="Poppins SemiBold"/>
              </a:rPr>
              <a:t>Diccionarios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621434"/>
            <a:ext cx="3073449" cy="20533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Asocian </a:t>
            </a:r>
            <a:r>
              <a:rPr lang="es-CL" sz="1650" b="1" i="0" u="none" noProof="0" dirty="0">
                <a:solidFill>
                  <a:srgbClr val="334155"/>
                </a:solidFill>
                <a:latin typeface="Poppins"/>
              </a:rPr>
              <a:t>Llave-Valor</a:t>
            </a: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. Rápidos para buscar gracias al </a:t>
            </a:r>
            <a:r>
              <a:rPr lang="es-CL" sz="1650" b="0" i="1" u="none" noProof="0" dirty="0">
                <a:solidFill>
                  <a:srgbClr val="334155"/>
                </a:solidFill>
                <a:latin typeface="Poppins"/>
              </a:rPr>
              <a:t>hash</a:t>
            </a: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. </a:t>
            </a:r>
            <a:r>
              <a:rPr lang="es-CL" noProof="0" dirty="0"/>
              <a:t>
</a:t>
            </a: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 Ojo: Las llaves no se pueden repetir y deben ser inmutables.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5826" y="3021359"/>
            <a:ext cx="278034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2400" b="0" i="0" u="none" noProof="0" dirty="0">
                <a:solidFill>
                  <a:srgbClr val="BE185D"/>
                </a:solidFill>
                <a:latin typeface="Poppins SemiBold"/>
              </a:rPr>
              <a:t>Sets (Conjuntos)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349" y="3621434"/>
            <a:ext cx="3073449" cy="1466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Estructuras matemáticas </a:t>
            </a:r>
            <a:r>
              <a:rPr lang="es-CL" sz="1650" b="1" i="0" u="none" noProof="0" dirty="0">
                <a:solidFill>
                  <a:srgbClr val="334155"/>
                </a:solidFill>
                <a:latin typeface="Poppins"/>
              </a:rPr>
              <a:t>sin elementos repetidos</a:t>
            </a: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. No tienen orden, pero son los más rápidos para verificar si un dato ya existe adentro.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121" y="3021359"/>
            <a:ext cx="28503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2400" b="0" i="0" u="none" noProof="0" dirty="0">
                <a:solidFill>
                  <a:srgbClr val="BE185D"/>
                </a:solidFill>
                <a:latin typeface="Poppins SemiBold"/>
              </a:rPr>
              <a:t>*</a:t>
            </a:r>
            <a:r>
              <a:rPr lang="es-CL" sz="2400" b="0" i="0" u="none" noProof="0" dirty="0" err="1">
                <a:solidFill>
                  <a:srgbClr val="BE185D"/>
                </a:solidFill>
                <a:latin typeface="Poppins SemiBold"/>
              </a:rPr>
              <a:t>Args</a:t>
            </a:r>
            <a:r>
              <a:rPr lang="es-CL" sz="2400" b="0" i="0" u="none" noProof="0" dirty="0">
                <a:solidFill>
                  <a:srgbClr val="BE185D"/>
                </a:solidFill>
                <a:latin typeface="Poppins SemiBold"/>
              </a:rPr>
              <a:t> y **</a:t>
            </a:r>
            <a:r>
              <a:rPr lang="es-CL" sz="2400" b="0" i="0" u="none" noProof="0" dirty="0" err="1">
                <a:solidFill>
                  <a:srgbClr val="BE185D"/>
                </a:solidFill>
                <a:latin typeface="Poppins SemiBold"/>
              </a:rPr>
              <a:t>Kwargs</a:t>
            </a:r>
            <a:endParaRPr lang="es-CL" sz="2400" b="0" i="0" u="none" noProof="0" dirty="0">
              <a:solidFill>
                <a:srgbClr val="BE185D"/>
              </a:solidFill>
              <a:latin typeface="Poppi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37649" y="3621434"/>
            <a:ext cx="3073449" cy="176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*</a:t>
            </a:r>
            <a:r>
              <a:rPr lang="es-CL" sz="1650" b="0" i="0" u="none" noProof="0" dirty="0" err="1">
                <a:solidFill>
                  <a:srgbClr val="334155"/>
                </a:solidFill>
                <a:latin typeface="Poppins"/>
              </a:rPr>
              <a:t>args</a:t>
            </a: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 junta argumentos sueltos en una Tupla. </a:t>
            </a:r>
            <a:r>
              <a:rPr lang="es-CL" noProof="0" dirty="0"/>
              <a:t>
</a:t>
            </a: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**</a:t>
            </a:r>
            <a:r>
              <a:rPr lang="es-CL" sz="1650" b="0" i="0" u="none" noProof="0" dirty="0" err="1">
                <a:solidFill>
                  <a:srgbClr val="334155"/>
                </a:solidFill>
                <a:latin typeface="Poppins"/>
              </a:rPr>
              <a:t>kwargs</a:t>
            </a: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 junta parámetros con nombre en un Diccionario.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4337" y="2145059"/>
            <a:ext cx="466725" cy="533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145059"/>
            <a:ext cx="533400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9037" y="2145059"/>
            <a:ext cx="390525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900" b="0" i="0" u="none" noProof="0" dirty="0">
                <a:solidFill>
                  <a:srgbClr val="BE185D"/>
                </a:solidFill>
                <a:latin typeface="Poppins SemiBold"/>
              </a:rPr>
              <a:t>Diccionarios, Sets y Argumentos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24500" y="2376487"/>
            <a:ext cx="1143000" cy="76200"/>
          </a:xfrm>
          <a:prstGeom prst="rect">
            <a:avLst/>
          </a:prstGeom>
          <a:solidFill>
            <a:srgbClr val="BE18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2735580" y="2833687"/>
            <a:ext cx="6720840" cy="1009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5250" b="1" i="0" u="none" noProof="0" dirty="0">
                <a:solidFill>
                  <a:srgbClr val="BE185D"/>
                </a:solidFill>
                <a:latin typeface="Poppins"/>
              </a:rPr>
              <a:t>OOP y Excepciones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52800" y="4081462"/>
            <a:ext cx="54864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lang="es-CL" sz="2250" b="0" i="0" u="none" noProof="0" dirty="0">
                <a:solidFill>
                  <a:srgbClr val="475569"/>
                </a:solidFill>
                <a:latin typeface="Poppins"/>
              </a:rPr>
              <a:t>Herencia, Flujos de Errores e Iteradores.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863179"/>
            <a:ext cx="3492549" cy="416034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1863179"/>
            <a:ext cx="3492549" cy="416034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1863179"/>
            <a:ext cx="3492549" cy="41603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77607" y="3168104"/>
            <a:ext cx="148018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2400" b="0" i="0" u="none" noProof="0" dirty="0">
                <a:solidFill>
                  <a:srgbClr val="BE185D"/>
                </a:solidFill>
                <a:latin typeface="Poppins SemiBold"/>
              </a:rPr>
              <a:t>Herencia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768179"/>
            <a:ext cx="3073449" cy="176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Una clase "Hija" recicla atributos y métodos de un "Padre" para no repetir código (Ej. Animal ➝ Gato). Usamos super().__</a:t>
            </a:r>
            <a:r>
              <a:rPr lang="es-CL" sz="1650" b="0" i="0" u="none" noProof="0" dirty="0" err="1">
                <a:solidFill>
                  <a:srgbClr val="334155"/>
                </a:solidFill>
                <a:latin typeface="Poppins"/>
              </a:rPr>
              <a:t>init</a:t>
            </a: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__().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5865" y="3168104"/>
            <a:ext cx="21602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2400" b="0" i="0" u="none" noProof="0" dirty="0">
                <a:solidFill>
                  <a:srgbClr val="BE185D"/>
                </a:solidFill>
                <a:latin typeface="Poppins SemiBold"/>
              </a:rPr>
              <a:t>Polimorfismo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9349" y="3768179"/>
            <a:ext cx="3073449" cy="176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Clases distintas tienen un método con el mismo nombre, pero hacen cosas distintas. (Un perro ladra, un gato maúlla al llamar hablar()).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9190" y="3168104"/>
            <a:ext cx="175021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2400" b="0" i="0" u="none" noProof="0" dirty="0">
                <a:solidFill>
                  <a:srgbClr val="BE185D"/>
                </a:solidFill>
                <a:latin typeface="Poppins SemiBold"/>
              </a:rPr>
              <a:t>@property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7649" y="3768179"/>
            <a:ext cx="3073449" cy="1466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Convierte un método para que se use como si fuera un atributo. Permite </a:t>
            </a:r>
            <a:r>
              <a:rPr lang="es-CL" sz="1650" b="1" i="0" u="none" noProof="0" dirty="0">
                <a:solidFill>
                  <a:srgbClr val="334155"/>
                </a:solidFill>
                <a:latin typeface="Poppins"/>
              </a:rPr>
              <a:t>validar</a:t>
            </a:r>
            <a:r>
              <a:rPr lang="es-CL" sz="1650" b="0" i="0" u="none" noProof="0" dirty="0">
                <a:solidFill>
                  <a:srgbClr val="334155"/>
                </a:solidFill>
                <a:latin typeface="Poppins"/>
              </a:rPr>
              <a:t> los datos en secreto antes de guardarlos.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7662" y="2291804"/>
            <a:ext cx="600075" cy="533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291804"/>
            <a:ext cx="533400" cy="533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0937" y="2291804"/>
            <a:ext cx="466725" cy="533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71500"/>
            <a:ext cx="116014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900" b="0" i="0" u="none" noProof="0" dirty="0">
                <a:solidFill>
                  <a:srgbClr val="BE185D"/>
                </a:solidFill>
                <a:latin typeface="Poppins SemiBold"/>
              </a:rPr>
              <a:t>Diseño Orientado a Objetos (OOP)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973609"/>
            <a:ext cx="11049000" cy="6057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116484"/>
            <a:ext cx="1042035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Atrapar errores evita que el programa colapse de golpe por un mal dato del usuario.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4455765"/>
            <a:ext cx="11049000" cy="57150"/>
          </a:xfrm>
          <a:prstGeom prst="rect">
            <a:avLst/>
          </a:prstGeom>
          <a:solidFill>
            <a:srgbClr val="FBC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10733" y="2617440"/>
            <a:ext cx="25521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950" b="0" i="0" u="none" noProof="0" dirty="0">
                <a:solidFill>
                  <a:srgbClr val="BE185D"/>
                </a:solidFill>
                <a:latin typeface="Poppins SemiBold"/>
              </a:rPr>
              <a:t>1. 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065115"/>
            <a:ext cx="243066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s-CL" sz="1500" b="0" i="0" u="none" noProof="0" dirty="0">
                <a:solidFill>
                  <a:srgbClr val="334155"/>
                </a:solidFill>
                <a:latin typeface="Poppins"/>
              </a:rPr>
              <a:t>Intentamos ejecutar el código principal, sabiendo que es "riesgoso" y podría fallar.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413" y="4722465"/>
            <a:ext cx="25521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950" b="0" i="0" u="none" noProof="0" dirty="0">
                <a:solidFill>
                  <a:srgbClr val="BE185D"/>
                </a:solidFill>
                <a:latin typeface="Poppins SemiBold"/>
              </a:rPr>
              <a:t>2. </a:t>
            </a:r>
            <a:r>
              <a:rPr lang="es-CL" sz="1950" b="0" i="0" u="none" noProof="0" dirty="0" err="1">
                <a:solidFill>
                  <a:srgbClr val="BE185D"/>
                </a:solidFill>
                <a:latin typeface="Poppins SemiBold"/>
              </a:rPr>
              <a:t>except</a:t>
            </a:r>
            <a:endParaRPr lang="es-CL" sz="1950" b="0" i="0" u="none" noProof="0" dirty="0">
              <a:solidFill>
                <a:srgbClr val="BE185D"/>
              </a:solidFill>
              <a:latin typeface="Poppi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44180" y="5170140"/>
            <a:ext cx="2430660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s-CL" sz="1500" b="0" i="0" u="none" noProof="0" dirty="0">
                <a:solidFill>
                  <a:srgbClr val="334155"/>
                </a:solidFill>
                <a:latin typeface="Poppins"/>
              </a:rPr>
              <a:t>Solo entramos aquí si el try falla. Capturamos el error para salvar el programa.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6094" y="2865090"/>
            <a:ext cx="25521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950" b="0" i="0" u="none" noProof="0" dirty="0">
                <a:solidFill>
                  <a:srgbClr val="BE185D"/>
                </a:solidFill>
                <a:latin typeface="Poppins SemiBold"/>
              </a:rPr>
              <a:t>3. </a:t>
            </a:r>
            <a:r>
              <a:rPr lang="es-CL" sz="1950" b="0" i="0" u="none" noProof="0" dirty="0" err="1">
                <a:solidFill>
                  <a:srgbClr val="BE185D"/>
                </a:solidFill>
                <a:latin typeface="Poppins SemiBold"/>
              </a:rPr>
              <a:t>else</a:t>
            </a:r>
            <a:endParaRPr lang="es-CL" sz="1950" b="0" i="0" u="none" noProof="0" dirty="0">
              <a:solidFill>
                <a:srgbClr val="BE185D"/>
              </a:solidFill>
              <a:latin typeface="Poppi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16860" y="3312765"/>
            <a:ext cx="243066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s-CL" sz="1500" b="0" i="0" u="none" noProof="0" dirty="0">
                <a:solidFill>
                  <a:srgbClr val="334155"/>
                </a:solidFill>
                <a:latin typeface="Poppins"/>
              </a:rPr>
              <a:t>Solo entramos aquí si el try fue un éxito rotundo (no hubo ningún error).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8774" y="4722465"/>
            <a:ext cx="2552193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1950" b="0" i="0" u="none" noProof="0" dirty="0">
                <a:solidFill>
                  <a:srgbClr val="BE185D"/>
                </a:solidFill>
                <a:latin typeface="Poppins SemiBold"/>
              </a:rPr>
              <a:t>4. </a:t>
            </a:r>
            <a:r>
              <a:rPr lang="es-CL" sz="1950" b="0" i="0" u="none" noProof="0" dirty="0" err="1">
                <a:solidFill>
                  <a:srgbClr val="BE185D"/>
                </a:solidFill>
                <a:latin typeface="Poppins SemiBold"/>
              </a:rPr>
              <a:t>finally</a:t>
            </a:r>
            <a:endParaRPr lang="es-CL" sz="1950" b="0" i="0" u="none" noProof="0" dirty="0">
              <a:solidFill>
                <a:srgbClr val="BE185D"/>
              </a:solidFill>
              <a:latin typeface="Poppins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89541" y="5170140"/>
            <a:ext cx="243066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lang="es-CL" sz="1500" b="0" i="0" u="none" noProof="0" dirty="0">
                <a:solidFill>
                  <a:srgbClr val="334155"/>
                </a:solidFill>
                <a:latin typeface="Poppins"/>
              </a:rPr>
              <a:t>Se ejecuta </a:t>
            </a:r>
            <a:r>
              <a:rPr lang="es-CL" sz="1500" b="1" i="0" u="none" noProof="0" dirty="0">
                <a:solidFill>
                  <a:srgbClr val="334155"/>
                </a:solidFill>
                <a:latin typeface="Poppins"/>
              </a:rPr>
              <a:t>siempre</a:t>
            </a:r>
            <a:r>
              <a:rPr lang="es-CL" sz="1500" b="0" i="0" u="none" noProof="0" dirty="0">
                <a:solidFill>
                  <a:srgbClr val="334155"/>
                </a:solidFill>
                <a:latin typeface="Poppins"/>
              </a:rPr>
              <a:t> al final, haya habido un error catastrófico o éxito.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900" b="0" i="0" u="none" noProof="0" dirty="0">
                <a:solidFill>
                  <a:srgbClr val="BE185D"/>
                </a:solidFill>
                <a:latin typeface="Poppins SemiBold"/>
              </a:rPr>
              <a:t>El Flujo Lineal de Excepciones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72530" y="437004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Rounded Rectangle 14"/>
          <p:cNvSpPr/>
          <p:nvPr/>
        </p:nvSpPr>
        <p:spPr>
          <a:xfrm>
            <a:off x="4545210" y="437004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7417891" y="437004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Rounded Rectangle 16"/>
          <p:cNvSpPr/>
          <p:nvPr/>
        </p:nvSpPr>
        <p:spPr>
          <a:xfrm>
            <a:off x="10290571" y="437004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47625">
            <a:solidFill>
              <a:srgbClr val="BE18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71500" y="1800225"/>
            <a:ext cx="5238750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Si ocurre un nuevo error </a:t>
            </a: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dentro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de un bloque 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except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, los siguientes bloques 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except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</a:t>
            </a:r>
            <a:r>
              <a:rPr lang="es-CL" sz="1800" b="0" i="0" u="none" noProof="0" dirty="0">
                <a:latin typeface="Poppins SemiBold"/>
              </a:rPr>
              <a:t>NO lo capturarán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188791"/>
            <a:ext cx="5238750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¿Por qué? Porque los bloques 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except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solo actúan como salvavidas de lo que pasa dentro del bloque try inicial, no de los otros salvavidas.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897338"/>
            <a:ext cx="52387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Si un salvavidas tiene una fuga, el programa se cae irreparablemente.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014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900" b="0" i="0" u="none" noProof="0" dirty="0">
                <a:solidFill>
                  <a:srgbClr val="BE185D"/>
                </a:solidFill>
                <a:latin typeface="Poppins SemiBold"/>
              </a:rPr>
              <a:t>¡Cuidado con errores en el </a:t>
            </a:r>
            <a:r>
              <a:rPr lang="es-CL" sz="3900" b="0" i="0" u="none" noProof="0" dirty="0" err="1">
                <a:solidFill>
                  <a:srgbClr val="BE185D"/>
                </a:solidFill>
                <a:latin typeface="Poppins SemiBold"/>
              </a:rPr>
              <a:t>Except</a:t>
            </a:r>
            <a:r>
              <a:rPr lang="es-CL" sz="3900" b="0" i="0" u="none" noProof="0" dirty="0">
                <a:solidFill>
                  <a:srgbClr val="BE185D"/>
                </a:solidFill>
                <a:latin typeface="Poppins SemiBold"/>
              </a:rPr>
              <a:t>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17587"/>
            <a:ext cx="5238750" cy="505152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417587"/>
            <a:ext cx="5238750" cy="50515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50" y="1817637"/>
            <a:ext cx="466058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0" i="0" u="none" noProof="0" dirty="0">
                <a:solidFill>
                  <a:srgbClr val="BE185D"/>
                </a:solidFill>
                <a:latin typeface="Poppins SemiBold"/>
              </a:rPr>
              <a:t>El Iterable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2417712"/>
            <a:ext cx="44386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Representa la colección en sí (ej. una lista o mazo de cartas).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81800" y="1817637"/>
            <a:ext cx="466058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400" b="0" i="0" u="none" noProof="0" dirty="0">
                <a:solidFill>
                  <a:srgbClr val="BE185D"/>
                </a:solidFill>
                <a:latin typeface="Poppins SemiBold"/>
              </a:rPr>
              <a:t>El Iterador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81800" y="2417712"/>
            <a:ext cx="4438650" cy="639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Es el "puntero" que va recordando en qué posición del recorrido 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2050" y="3246268"/>
            <a:ext cx="95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7300" y="3248173"/>
            <a:ext cx="4152900" cy="6399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Implementa obligatoriamente el método mágico __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iter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__().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2050" y="4076729"/>
            <a:ext cx="95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300" y="4078634"/>
            <a:ext cx="4152900" cy="6399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¿Qué hace?: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Retorna un </a:t>
            </a: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iterador nuevo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cada vez que se llama.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907190"/>
            <a:ext cx="95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300" y="4909095"/>
            <a:ext cx="4152900" cy="6399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Gracias a esto, puedes recorrer el iterable </a:t>
            </a: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infinitas veces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72300" y="3246268"/>
            <a:ext cx="95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7550" y="3248173"/>
            <a:ext cx="4152900" cy="6399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Implementa __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iter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__() (que se retorna a sí mismo) y __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next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__().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2300" y="4076729"/>
            <a:ext cx="95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7550" y="4078634"/>
            <a:ext cx="4152900" cy="96946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¿Qué hace?: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__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next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__() saca un elemento a la vez. Al acabarse los datos, levanta </a:t>
            </a:r>
            <a:r>
              <a:rPr lang="es-CL" sz="1800" b="0" i="0" u="none" noProof="0" dirty="0" err="1">
                <a:solidFill>
                  <a:srgbClr val="334155"/>
                </a:solidFill>
                <a:latin typeface="Poppins"/>
              </a:rPr>
              <a:t>StopIteration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2300" y="5236696"/>
            <a:ext cx="952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7550" y="5238601"/>
            <a:ext cx="4152900" cy="6399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Se </a:t>
            </a:r>
            <a:r>
              <a:rPr lang="es-CL" sz="1800" b="0" i="0" u="none" noProof="0" dirty="0">
                <a:solidFill>
                  <a:srgbClr val="BE185D"/>
                </a:solidFill>
                <a:latin typeface="Poppins SemiBold"/>
              </a:rPr>
              <a:t>agota</a:t>
            </a:r>
            <a:r>
              <a:rPr lang="es-CL" sz="1800" b="0" i="0" u="none" noProof="0" dirty="0">
                <a:solidFill>
                  <a:srgbClr val="334155"/>
                </a:solidFill>
                <a:latin typeface="Poppins"/>
              </a:rPr>
              <a:t> (se consume una sola vez).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388887"/>
            <a:ext cx="116014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3900" b="0" i="0" u="none" noProof="0" dirty="0">
                <a:solidFill>
                  <a:srgbClr val="BE185D"/>
                </a:solidFill>
                <a:latin typeface="Poppins SemiBold"/>
              </a:rPr>
              <a:t>Iterables e Iteradores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5275" y="2089844"/>
            <a:ext cx="11601450" cy="1295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6750" b="1" i="0" u="none" noProof="0" dirty="0">
                <a:solidFill>
                  <a:srgbClr val="BE185D"/>
                </a:solidFill>
                <a:latin typeface="Poppins"/>
              </a:rPr>
              <a:t>¡Mucho Éxito en tu I1!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670994"/>
            <a:ext cx="11049000" cy="906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570"/>
              </a:lnSpc>
            </a:pPr>
            <a:r>
              <a:rPr lang="es-CL" sz="2550" b="0" i="0" u="none" noProof="0" dirty="0">
                <a:solidFill>
                  <a:srgbClr val="475569"/>
                </a:solidFill>
                <a:latin typeface="Poppins"/>
              </a:rPr>
              <a:t>Concéntrate en entender la lógica de los flujos.</a:t>
            </a:r>
            <a:r>
              <a:rPr lang="es-CL" noProof="0" dirty="0"/>
              <a:t>
</a:t>
            </a:r>
            <a:r>
              <a:rPr lang="es-CL" sz="2550" b="0" i="0" u="none" noProof="0" dirty="0">
                <a:solidFill>
                  <a:srgbClr val="475569"/>
                </a:solidFill>
                <a:latin typeface="Poppins"/>
              </a:rPr>
              <a:t> La memoria sintáctica se construye practicando.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69574BAB72994AB07E87AA70FAC3E5" ma:contentTypeVersion="14" ma:contentTypeDescription="Create a new document." ma:contentTypeScope="" ma:versionID="253ec1252cd6944ca8de321c171a21ed">
  <xsd:schema xmlns:xsd="http://www.w3.org/2001/XMLSchema" xmlns:xs="http://www.w3.org/2001/XMLSchema" xmlns:p="http://schemas.microsoft.com/office/2006/metadata/properties" xmlns:ns3="13bc71d6-cc94-40f6-a88d-81200bde3488" xmlns:ns4="909c0444-a1d6-4554-a810-dddd8c427782" targetNamespace="http://schemas.microsoft.com/office/2006/metadata/properties" ma:root="true" ma:fieldsID="fb29fcfa41e7ef1752d3ddc7079552e6" ns3:_="" ns4:_="">
    <xsd:import namespace="13bc71d6-cc94-40f6-a88d-81200bde3488"/>
    <xsd:import namespace="909c0444-a1d6-4554-a810-dddd8c4277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bc71d6-cc94-40f6-a88d-81200bde34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9c0444-a1d6-4554-a810-dddd8c42778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3bc71d6-cc94-40f6-a88d-81200bde3488" xsi:nil="true"/>
  </documentManagement>
</p:properties>
</file>

<file path=customXml/itemProps1.xml><?xml version="1.0" encoding="utf-8"?>
<ds:datastoreItem xmlns:ds="http://schemas.openxmlformats.org/officeDocument/2006/customXml" ds:itemID="{BF829045-4913-432D-B6F8-3017AC0987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844F72-F515-42AF-9C2F-4E3D2B8C770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13bc71d6-cc94-40f6-a88d-81200bde3488"/>
    <ds:schemaRef ds:uri="909c0444-a1d6-4554-a810-dddd8c427782"/>
  </ds:schemaRefs>
</ds:datastoreItem>
</file>

<file path=customXml/itemProps3.xml><?xml version="1.0" encoding="utf-8"?>
<ds:datastoreItem xmlns:ds="http://schemas.openxmlformats.org/officeDocument/2006/customXml" ds:itemID="{7720BF0C-61FB-4BAE-BB5D-E2CE7888A140}">
  <ds:schemaRefs>
    <ds:schemaRef ds:uri="http://schemas.microsoft.com/office/2006/metadata/properties"/>
    <ds:schemaRef ds:uri="http://www.w3.org/2000/xmlns/"/>
    <ds:schemaRef ds:uri="13bc71d6-cc94-40f6-a88d-81200bde3488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1072</Words>
  <Application>Microsoft Office PowerPoint</Application>
  <PresentationFormat>Panorámica</PresentationFormat>
  <Paragraphs>103</Paragraphs>
  <Slides>15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Josefa Del Pilar Buch Soto</cp:lastModifiedBy>
  <cp:revision>3</cp:revision>
  <dcterms:created xsi:type="dcterms:W3CDTF">2013-01-27T09:14:16Z</dcterms:created>
  <dcterms:modified xsi:type="dcterms:W3CDTF">2026-09-08T15:13:45Z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0x010100C669574BAB72994AB07E87AA70FAC3E5</vt:lpwstr>
  </property>
</Properties>
</file>